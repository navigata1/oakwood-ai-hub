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6256000" cy="9144000"/>
  <p:notesSz cx="9144000" cy="16256000"/>
  <p:embeddedFontLst>
    <p:embeddedFont>
      <p:font typeface="Quattrocento Sans" charset="-122" pitchFamily="34"/>
      <p:regular r:id="rId26"/>
    </p:embeddedFont>
    <p:embeddedFont>
      <p:font typeface="Liter" charset="-122" pitchFamily="34"/>
      <p:regular r:id="rId27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font" Target="fonts/font1.fntdata"/><Relationship Id="rId27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omshardware.com/pc-components/dram/the-ram-pricing-crisis-has-only-just-started-team-group-gm-warns-says-problem-will-get-worse-in-2026-as-dram-and-nand-prices-double-in-one-mont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omshardware.com/pc-components/dram/the-ram-pricing-crisis-has-only-just-started-team-group-gm-warns-says-problem-will-get-worse-in-2026-as-dram-and-nand-prices-double-in-one-mont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pple.com/education/pricelists/pdfs/Apple_US_Education_Institution_Price_List.pdf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B2D">
                  <a:alpha val="94000"/>
                </a:srgbClr>
              </a:gs>
              <a:gs pos="55000">
                <a:srgbClr val="0F1B2D">
                  <a:alpha val="82000"/>
                </a:srgbClr>
              </a:gs>
              <a:gs pos="100000">
                <a:srgbClr val="0F1B2D">
                  <a:alpha val="19000"/>
                </a:srgbClr>
              </a:gs>
            </a:gsLst>
            <a:lin ang="0" scaled="1"/>
          </a:gradFill>
          <a:ln/>
        </p:spPr>
      </p:sp>
      <p:sp>
        <p:nvSpPr>
          <p:cNvPr id="3" name="Shape 1"/>
          <p:cNvSpPr/>
          <p:nvPr/>
        </p:nvSpPr>
        <p:spPr>
          <a:xfrm>
            <a:off x="762000" y="3048000"/>
            <a:ext cx="1016000" cy="50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3302000"/>
            <a:ext cx="762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5200" b="1" spc="6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</a:t>
            </a:r>
            <a:endParaRPr lang="en-US" sz="1600" dirty="0"/>
          </a:p>
          <a:p>
            <a:pPr>
              <a:lnSpc>
                <a:spcPct val="115000"/>
              </a:lnSpc>
            </a:pPr>
            <a:r>
              <a:rPr lang="en-US" sz="5200" b="1" spc="6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AI LAB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5524500"/>
            <a:ext cx="762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spc="1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Strategic Proposal for AI Infrastructure Investment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6604000"/>
            <a:ext cx="7620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Prepared for </a:t>
            </a:r>
            <a:pPr>
              <a:lnSpc>
                <a:spcPct val="170000"/>
              </a:lnSpc>
            </a:pPr>
            <a:r>
              <a:rPr lang="en-US" sz="1400" b="1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Dr. Shushannah Smith</a:t>
            </a:r>
            <a:pPr>
              <a:lnSpc>
                <a:spcPct val="170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Chair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Mathematics &amp; Computer Science · Oakwood University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May 2026 · Confidential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2000" y="78740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INTERNAL · CONFIDENTIAL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270000"/>
            <a:ext cx="381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spc="4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2349500"/>
            <a:ext cx="1524000" cy="381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6" name="Text 4"/>
          <p:cNvSpPr/>
          <p:nvPr/>
        </p:nvSpPr>
        <p:spPr>
          <a:xfrm>
            <a:off x="5080000" y="1270000"/>
            <a:ext cx="825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2500" y="1270000"/>
            <a:ext cx="444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Strategic Moment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032500" y="1676400"/>
            <a:ext cx="4826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National AI investment, HBCU mandate, funding window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80000" y="2184400"/>
            <a:ext cx="10414000" cy="12700"/>
          </a:xfrm>
          <a:prstGeom prst="rect">
            <a:avLst/>
          </a:prstGeom>
          <a:solidFill>
            <a:srgbClr val="D5D0C8"/>
          </a:solidFill>
          <a:ln/>
        </p:spPr>
      </p:sp>
      <p:sp>
        <p:nvSpPr>
          <p:cNvPr id="10" name="Text 8"/>
          <p:cNvSpPr/>
          <p:nvPr/>
        </p:nvSpPr>
        <p:spPr>
          <a:xfrm>
            <a:off x="5080000" y="2438400"/>
            <a:ext cx="825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32500" y="2438400"/>
            <a:ext cx="444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Vision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32500" y="2844800"/>
            <a:ext cx="444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Four pillars, six zones, 10-seat production lab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80000" y="3352800"/>
            <a:ext cx="10414000" cy="12700"/>
          </a:xfrm>
          <a:prstGeom prst="rect">
            <a:avLst/>
          </a:prstGeom>
          <a:solidFill>
            <a:srgbClr val="D5D0C8"/>
          </a:solidFill>
          <a:ln/>
        </p:spPr>
      </p:sp>
      <p:sp>
        <p:nvSpPr>
          <p:cNvPr id="14" name="Text 12"/>
          <p:cNvSpPr/>
          <p:nvPr/>
        </p:nvSpPr>
        <p:spPr>
          <a:xfrm>
            <a:off x="5080000" y="3606800"/>
            <a:ext cx="825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32500" y="3606800"/>
            <a:ext cx="444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Hardware Architecture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2500" y="4013200"/>
            <a:ext cx="508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Five-layer spec, verified May 2026 pricing, memory crisis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80000" y="4521200"/>
            <a:ext cx="10414000" cy="12700"/>
          </a:xfrm>
          <a:prstGeom prst="rect">
            <a:avLst/>
          </a:prstGeom>
          <a:solidFill>
            <a:srgbClr val="D5D0C8"/>
          </a:solidFill>
          <a:ln/>
        </p:spPr>
      </p:sp>
      <p:sp>
        <p:nvSpPr>
          <p:cNvPr id="18" name="Text 16"/>
          <p:cNvSpPr/>
          <p:nvPr/>
        </p:nvSpPr>
        <p:spPr>
          <a:xfrm>
            <a:off x="5080000" y="4775200"/>
            <a:ext cx="825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2500" y="4775200"/>
            <a:ext cx="444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Investment Framework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32500" y="5181600"/>
            <a:ext cx="533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Four budget tiers from $20K to $200K with procurement paths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80000" y="5689600"/>
            <a:ext cx="10414000" cy="12700"/>
          </a:xfrm>
          <a:prstGeom prst="rect">
            <a:avLst/>
          </a:prstGeom>
          <a:solidFill>
            <a:srgbClr val="D5D0C8"/>
          </a:solidFill>
          <a:ln/>
        </p:spPr>
      </p:sp>
      <p:sp>
        <p:nvSpPr>
          <p:cNvPr id="22" name="Text 20"/>
          <p:cNvSpPr/>
          <p:nvPr/>
        </p:nvSpPr>
        <p:spPr>
          <a:xfrm>
            <a:off x="5080000" y="5943600"/>
            <a:ext cx="825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32500" y="5943600"/>
            <a:ext cx="444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Implementation &amp; Impact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32500" y="6350000"/>
            <a:ext cx="508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90-day roadmap, risk matrix, next deliverables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B2D">
                  <a:alpha val="6000"/>
                </a:srgbClr>
              </a:gs>
              <a:gs pos="40000">
                <a:srgbClr val="0F1B2D">
                  <a:alpha val="63000"/>
                </a:srgbClr>
              </a:gs>
              <a:gs pos="100000">
                <a:srgbClr val="0F1B2D">
                  <a:alpha val="94000"/>
                </a:srgbClr>
              </a:gs>
            </a:gsLst>
            <a:lin ang="54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762000" y="2540000"/>
            <a:ext cx="2540000" cy="1079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762000" y="3746500"/>
            <a:ext cx="1016000" cy="381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40005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000" b="1" spc="5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STRATEGIC MOMENT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4889500"/>
            <a:ext cx="889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now — the convergence of national AI investment,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HBCU mandate, and a once-in-a-decade funding window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STRATEGIC MOMENT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$100B AI-HBCU Imperative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905000"/>
            <a:ext cx="4572000" cy="1778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6" name="Text 4"/>
          <p:cNvSpPr/>
          <p:nvPr/>
        </p:nvSpPr>
        <p:spPr>
          <a:xfrm>
            <a:off x="1016000" y="2032000"/>
            <a:ext cx="406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8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$100B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1016000" y="2819400"/>
            <a:ext cx="406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AI-HBCU Fund white paper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released January 2025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88000" y="1905000"/>
            <a:ext cx="4572000" cy="1778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9" name="Text 7"/>
          <p:cNvSpPr/>
          <p:nvPr/>
        </p:nvSpPr>
        <p:spPr>
          <a:xfrm>
            <a:off x="5842000" y="2032000"/>
            <a:ext cx="406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8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3.5%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5842000" y="2819400"/>
            <a:ext cx="406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of CS PhDs earned by Black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 nationally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414000" y="1905000"/>
            <a:ext cx="5080000" cy="1778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0" y="2032000"/>
            <a:ext cx="4572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8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25%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10668000" y="2819400"/>
            <a:ext cx="457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of all Black STEM graduates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produced by HBCUs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62000" y="4000500"/>
            <a:ext cx="7112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Federal momentum is unprecedented.</a:t>
            </a:r>
            <a:pPr>
              <a:lnSpc>
                <a:spcPct val="160000"/>
              </a:lnSpc>
            </a:pPr>
            <a:r>
              <a:rPr lang="en-US" sz="18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The NSF CHIPS Network is actively funding HBCU semiconductor and AI workforce development. Title III STEM expansion grants are at historic levels.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$100B AI-HBCU Fund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anchored by OpenAI's Stargate project — has opened its competitive grant portal in Q1 2026, specifically targeting campus AI lab infrastructure.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Oakwood sits at the intersection of 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HBCU + Adventist + STEM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a nationally unique position that no other institution can claim.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55000" y="4000500"/>
            <a:ext cx="7239000" cy="2540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Shape 14"/>
          <p:cNvSpPr/>
          <p:nvPr/>
        </p:nvSpPr>
        <p:spPr>
          <a:xfrm>
            <a:off x="8255000" y="4000500"/>
            <a:ext cx="50800" cy="25400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17" name="Text 15"/>
          <p:cNvSpPr/>
          <p:nvPr/>
        </p:nvSpPr>
        <p:spPr>
          <a:xfrm>
            <a:off x="8636000" y="41656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MEMORY CRISIS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36000" y="4597400"/>
            <a:ext cx="660400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global DRAM shortage makes timing critical. Micron's VP confirmed shortages won't improve before 2028.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en-US" sz="15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DGX Spark MSRP jumped $700 in Feb 2026. Apple cut high-memory Mac Studio SKUs. RTX 5090 retail runs 70–120% above MSRP.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55000" y="6731000"/>
            <a:ext cx="7239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Sources: $100B AI-HBCU Fund White Paper (Jan 2025); Micron VP statement (Jan 2026); </a:t>
            </a:r>
            <a:pPr>
              <a:lnSpc>
                <a:spcPct val="140000"/>
              </a:lnSpc>
            </a:pPr>
            <a:r>
              <a:rPr lang="en-US" sz="1200" u="sng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  <a:hlinkClick r:id="rId1" tooltip="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Tom's Hardware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(Dec 2025)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STRATEGIC MOMENT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016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Oakwood's Distinct Position: HBCU + Adventist + STEM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879600"/>
            <a:ext cx="4699000" cy="29845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1879600"/>
            <a:ext cx="4699000" cy="50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16000" y="2082800"/>
            <a:ext cx="4191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DEPARTMENT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2489200"/>
            <a:ext cx="4191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Dr. Shushannah Smith chairs </a:t>
            </a:r>
            <a:pPr>
              <a:lnSpc>
                <a:spcPct val="155000"/>
              </a:lnSpc>
            </a:pPr>
            <a:r>
              <a:rPr lang="en-US" sz="15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Mathematics &amp; Computer Science</a:t>
            </a:r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overseeing: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Applied Math · Computer Networks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Computer Science · Info Tech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Dual-Degree Engineering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Cooper Complex Building B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15000" y="1879600"/>
            <a:ext cx="4699000" cy="29845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0" name="Shape 8"/>
          <p:cNvSpPr/>
          <p:nvPr/>
        </p:nvSpPr>
        <p:spPr>
          <a:xfrm>
            <a:off x="5715000" y="1879600"/>
            <a:ext cx="4699000" cy="508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1" name="Text 9"/>
          <p:cNvSpPr/>
          <p:nvPr/>
        </p:nvSpPr>
        <p:spPr>
          <a:xfrm>
            <a:off x="5969000" y="2082800"/>
            <a:ext cx="4191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ADVENTIST ETHICS + AI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69000" y="2489200"/>
            <a:ext cx="4191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 </a:t>
            </a:r>
            <a:pPr>
              <a:lnSpc>
                <a:spcPct val="155000"/>
              </a:lnSpc>
            </a:pPr>
            <a:r>
              <a:rPr lang="en-US" sz="15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uniquely credible voice</a:t>
            </a:r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 responsible AI: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Data dignity &amp; human-in-the-loop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Sabbath as model for digital rest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Stewardship of student data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AI serving community, not extraction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i="1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Secular schools struggle to articulate this.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668000" y="1879600"/>
            <a:ext cx="4826000" cy="29845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68000" y="1879600"/>
            <a:ext cx="4826000" cy="50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2000" y="2082800"/>
            <a:ext cx="4318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HUNTSVILLE PIPELINE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22000" y="2489200"/>
            <a:ext cx="431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25% Black population. Home to: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Marshall Space Flight Center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Redstone Arsenal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Boeing, Northrop Grumman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ADTRAN, Torch Technologies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Immediate internship pathways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" y="4953000"/>
            <a:ext cx="14732000" cy="3556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5143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POSITIONING STATEMENT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5588000"/>
            <a:ext cx="13970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7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other institution</a:t>
            </a:r>
            <a:pPr>
              <a:lnSpc>
                <a:spcPct val="160000"/>
              </a:lnSpc>
            </a:pPr>
            <a:r>
              <a:rPr lang="en-US" sz="17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 America holds the triple identity of HBCU + Adventist + STEM. This is not a marginal academic addition — it is a </a:t>
            </a:r>
            <a:pPr>
              <a:lnSpc>
                <a:spcPct val="160000"/>
              </a:lnSpc>
            </a:pPr>
            <a:r>
              <a:rPr lang="en-US" sz="1700" b="1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nationally fundable artifact</a:t>
            </a:r>
            <a:pPr>
              <a:lnSpc>
                <a:spcPct val="160000"/>
              </a:lnSpc>
            </a:pPr>
            <a:r>
              <a:rPr lang="en-US" sz="17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across multiple grant programs by Q1 2027.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lab produces students with an 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b="1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ethics voice intact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data dignity, human-in-the-loop, stewardship of student data. In a world scrambling for responsible AI frameworks, this is a 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b="1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differentiating graduate attribute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that secular programs cannot replicate.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Grant agencies — NSF, Department of Education, Schmidt Futures, Mellon, Mott — 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b="1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actively fund HBCU AI capacity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The lab becomes a fundable artifact, not a cost center.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B2D">
                  <a:alpha val="6000"/>
                </a:srgbClr>
              </a:gs>
              <a:gs pos="40000">
                <a:srgbClr val="0F1B2D">
                  <a:alpha val="63000"/>
                </a:srgbClr>
              </a:gs>
              <a:gs pos="100000">
                <a:srgbClr val="0F1B2D">
                  <a:alpha val="94000"/>
                </a:srgbClr>
              </a:gs>
            </a:gsLst>
            <a:lin ang="54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762000" y="2540000"/>
            <a:ext cx="2540000" cy="1079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762000" y="3746500"/>
            <a:ext cx="1016000" cy="381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40005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000" b="1" spc="5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VISION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4889500"/>
            <a:ext cx="889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 10-seat AI production lab — where students graduate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with portfolio work, not just literacy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VISION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Four Pillars: Use AI · Build AI · Run Local · Govern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905000"/>
            <a:ext cx="3429000" cy="3683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Shape 4"/>
          <p:cNvSpPr/>
          <p:nvPr/>
        </p:nvSpPr>
        <p:spPr>
          <a:xfrm>
            <a:off x="990600" y="21336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209074" y="-21431"/>
                </a:moveTo>
                <a:lnTo>
                  <a:pt x="220821" y="7779"/>
                </a:lnTo>
                <a:lnTo>
                  <a:pt x="250031" y="19526"/>
                </a:lnTo>
                <a:cubicBezTo>
                  <a:pt x="252413" y="20479"/>
                  <a:pt x="254000" y="22860"/>
                  <a:pt x="254000" y="25400"/>
                </a:cubicBezTo>
                <a:cubicBezTo>
                  <a:pt x="254000" y="27940"/>
                  <a:pt x="252413" y="30321"/>
                  <a:pt x="250031" y="31274"/>
                </a:cubicBezTo>
                <a:lnTo>
                  <a:pt x="220821" y="43021"/>
                </a:lnTo>
                <a:lnTo>
                  <a:pt x="209074" y="72231"/>
                </a:lnTo>
                <a:cubicBezTo>
                  <a:pt x="208121" y="74613"/>
                  <a:pt x="205740" y="76200"/>
                  <a:pt x="203200" y="76200"/>
                </a:cubicBezTo>
                <a:cubicBezTo>
                  <a:pt x="200660" y="76200"/>
                  <a:pt x="198279" y="74613"/>
                  <a:pt x="197326" y="72231"/>
                </a:cubicBezTo>
                <a:lnTo>
                  <a:pt x="185579" y="43021"/>
                </a:lnTo>
                <a:lnTo>
                  <a:pt x="156369" y="31274"/>
                </a:lnTo>
                <a:cubicBezTo>
                  <a:pt x="153988" y="30321"/>
                  <a:pt x="152400" y="27940"/>
                  <a:pt x="152400" y="25400"/>
                </a:cubicBezTo>
                <a:cubicBezTo>
                  <a:pt x="152400" y="22860"/>
                  <a:pt x="153988" y="20479"/>
                  <a:pt x="156369" y="19526"/>
                </a:cubicBezTo>
                <a:lnTo>
                  <a:pt x="185579" y="7779"/>
                </a:lnTo>
                <a:lnTo>
                  <a:pt x="197326" y="-21431"/>
                </a:lnTo>
                <a:cubicBezTo>
                  <a:pt x="198279" y="-23812"/>
                  <a:pt x="200660" y="-25400"/>
                  <a:pt x="203200" y="-25400"/>
                </a:cubicBezTo>
                <a:cubicBezTo>
                  <a:pt x="205740" y="-25400"/>
                  <a:pt x="208121" y="-23812"/>
                  <a:pt x="209074" y="-21431"/>
                </a:cubicBezTo>
                <a:close/>
                <a:moveTo>
                  <a:pt x="87868" y="33099"/>
                </a:moveTo>
                <a:lnTo>
                  <a:pt x="104934" y="72866"/>
                </a:lnTo>
                <a:lnTo>
                  <a:pt x="144701" y="89932"/>
                </a:lnTo>
                <a:cubicBezTo>
                  <a:pt x="149384" y="91916"/>
                  <a:pt x="152400" y="96520"/>
                  <a:pt x="152400" y="101600"/>
                </a:cubicBezTo>
                <a:cubicBezTo>
                  <a:pt x="152400" y="106680"/>
                  <a:pt x="149384" y="111284"/>
                  <a:pt x="144701" y="113268"/>
                </a:cubicBezTo>
                <a:lnTo>
                  <a:pt x="104934" y="130334"/>
                </a:lnTo>
                <a:lnTo>
                  <a:pt x="87868" y="170101"/>
                </a:lnTo>
                <a:cubicBezTo>
                  <a:pt x="85884" y="174784"/>
                  <a:pt x="81280" y="177800"/>
                  <a:pt x="76200" y="177800"/>
                </a:cubicBezTo>
                <a:cubicBezTo>
                  <a:pt x="71120" y="177800"/>
                  <a:pt x="66516" y="174784"/>
                  <a:pt x="64532" y="170101"/>
                </a:cubicBezTo>
                <a:lnTo>
                  <a:pt x="47466" y="130334"/>
                </a:lnTo>
                <a:lnTo>
                  <a:pt x="7699" y="113268"/>
                </a:lnTo>
                <a:cubicBezTo>
                  <a:pt x="3016" y="111284"/>
                  <a:pt x="0" y="106680"/>
                  <a:pt x="0" y="101600"/>
                </a:cubicBezTo>
                <a:cubicBezTo>
                  <a:pt x="0" y="96520"/>
                  <a:pt x="3016" y="91916"/>
                  <a:pt x="7699" y="89932"/>
                </a:cubicBezTo>
                <a:lnTo>
                  <a:pt x="47466" y="72866"/>
                </a:lnTo>
                <a:lnTo>
                  <a:pt x="64532" y="33099"/>
                </a:lnTo>
                <a:cubicBezTo>
                  <a:pt x="66516" y="28416"/>
                  <a:pt x="71120" y="25400"/>
                  <a:pt x="76200" y="25400"/>
                </a:cubicBezTo>
                <a:cubicBezTo>
                  <a:pt x="81280" y="25400"/>
                  <a:pt x="85884" y="28416"/>
                  <a:pt x="87868" y="33099"/>
                </a:cubicBezTo>
                <a:close/>
                <a:moveTo>
                  <a:pt x="368300" y="241300"/>
                </a:moveTo>
                <a:cubicBezTo>
                  <a:pt x="373380" y="241300"/>
                  <a:pt x="377984" y="244316"/>
                  <a:pt x="379968" y="248999"/>
                </a:cubicBezTo>
                <a:lnTo>
                  <a:pt x="397034" y="288766"/>
                </a:lnTo>
                <a:lnTo>
                  <a:pt x="436801" y="305832"/>
                </a:lnTo>
                <a:cubicBezTo>
                  <a:pt x="441484" y="307816"/>
                  <a:pt x="444500" y="312420"/>
                  <a:pt x="444500" y="317500"/>
                </a:cubicBezTo>
                <a:cubicBezTo>
                  <a:pt x="444500" y="322580"/>
                  <a:pt x="441484" y="327184"/>
                  <a:pt x="436801" y="329168"/>
                </a:cubicBezTo>
                <a:lnTo>
                  <a:pt x="397034" y="346234"/>
                </a:lnTo>
                <a:lnTo>
                  <a:pt x="379968" y="386001"/>
                </a:lnTo>
                <a:cubicBezTo>
                  <a:pt x="377984" y="390684"/>
                  <a:pt x="373380" y="393700"/>
                  <a:pt x="368300" y="393700"/>
                </a:cubicBezTo>
                <a:cubicBezTo>
                  <a:pt x="363220" y="393700"/>
                  <a:pt x="358616" y="390684"/>
                  <a:pt x="356632" y="386001"/>
                </a:cubicBezTo>
                <a:lnTo>
                  <a:pt x="339566" y="346234"/>
                </a:lnTo>
                <a:lnTo>
                  <a:pt x="299799" y="329168"/>
                </a:lnTo>
                <a:cubicBezTo>
                  <a:pt x="295116" y="327184"/>
                  <a:pt x="292100" y="322580"/>
                  <a:pt x="292100" y="317500"/>
                </a:cubicBezTo>
                <a:cubicBezTo>
                  <a:pt x="292100" y="312420"/>
                  <a:pt x="295116" y="307816"/>
                  <a:pt x="299799" y="305832"/>
                </a:cubicBezTo>
                <a:lnTo>
                  <a:pt x="339566" y="288766"/>
                </a:lnTo>
                <a:lnTo>
                  <a:pt x="356632" y="248999"/>
                </a:lnTo>
                <a:cubicBezTo>
                  <a:pt x="358616" y="244316"/>
                  <a:pt x="363220" y="241300"/>
                  <a:pt x="368300" y="241300"/>
                </a:cubicBezTo>
                <a:close/>
                <a:moveTo>
                  <a:pt x="365125" y="0"/>
                </a:moveTo>
                <a:cubicBezTo>
                  <a:pt x="373856" y="0"/>
                  <a:pt x="382270" y="3493"/>
                  <a:pt x="388541" y="9684"/>
                </a:cubicBezTo>
                <a:lnTo>
                  <a:pt x="422116" y="43259"/>
                </a:lnTo>
                <a:cubicBezTo>
                  <a:pt x="428308" y="49530"/>
                  <a:pt x="431800" y="57944"/>
                  <a:pt x="431800" y="66675"/>
                </a:cubicBezTo>
                <a:cubicBezTo>
                  <a:pt x="431800" y="75406"/>
                  <a:pt x="428308" y="83820"/>
                  <a:pt x="422116" y="90091"/>
                </a:cubicBezTo>
                <a:lnTo>
                  <a:pt x="352107" y="160099"/>
                </a:lnTo>
                <a:lnTo>
                  <a:pt x="271701" y="79693"/>
                </a:lnTo>
                <a:lnTo>
                  <a:pt x="341709" y="9684"/>
                </a:lnTo>
                <a:cubicBezTo>
                  <a:pt x="347980" y="3493"/>
                  <a:pt x="356394" y="0"/>
                  <a:pt x="365125" y="0"/>
                </a:cubicBezTo>
                <a:close/>
                <a:moveTo>
                  <a:pt x="35084" y="316309"/>
                </a:moveTo>
                <a:lnTo>
                  <a:pt x="244793" y="106601"/>
                </a:lnTo>
                <a:lnTo>
                  <a:pt x="325199" y="187008"/>
                </a:lnTo>
                <a:lnTo>
                  <a:pt x="115491" y="396716"/>
                </a:lnTo>
                <a:cubicBezTo>
                  <a:pt x="109220" y="402908"/>
                  <a:pt x="100806" y="406400"/>
                  <a:pt x="92075" y="406400"/>
                </a:cubicBezTo>
                <a:cubicBezTo>
                  <a:pt x="83344" y="406400"/>
                  <a:pt x="74930" y="402908"/>
                  <a:pt x="68659" y="396716"/>
                </a:cubicBezTo>
                <a:lnTo>
                  <a:pt x="35084" y="363141"/>
                </a:lnTo>
                <a:cubicBezTo>
                  <a:pt x="28893" y="356870"/>
                  <a:pt x="25400" y="348456"/>
                  <a:pt x="25400" y="339725"/>
                </a:cubicBezTo>
                <a:cubicBezTo>
                  <a:pt x="25400" y="330994"/>
                  <a:pt x="28893" y="322580"/>
                  <a:pt x="35084" y="316309"/>
                </a:cubicBezTo>
                <a:close/>
              </a:path>
            </a:pathLst>
          </a:custGeom>
          <a:solidFill>
            <a:srgbClr val="C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524000" y="2133600"/>
            <a:ext cx="2413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2692400"/>
            <a:ext cx="292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spc="1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 AI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3124200"/>
            <a:ext cx="292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Prompt engineering mastery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RAG systems &amp; retrieval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Agent orchestration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Multi-modal workflows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Production deployment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en-US" sz="1400" i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 ship real AI tools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45000" y="1905000"/>
            <a:ext cx="3429000" cy="3683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1" name="Shape 9"/>
          <p:cNvSpPr/>
          <p:nvPr/>
        </p:nvSpPr>
        <p:spPr>
          <a:xfrm>
            <a:off x="4673600" y="21336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286385" y="953"/>
                </a:moveTo>
                <a:cubicBezTo>
                  <a:pt x="272891" y="-2937"/>
                  <a:pt x="258842" y="4921"/>
                  <a:pt x="254953" y="18415"/>
                </a:cubicBezTo>
                <a:lnTo>
                  <a:pt x="153353" y="374015"/>
                </a:lnTo>
                <a:cubicBezTo>
                  <a:pt x="149463" y="387509"/>
                  <a:pt x="157321" y="401558"/>
                  <a:pt x="170815" y="405448"/>
                </a:cubicBezTo>
                <a:cubicBezTo>
                  <a:pt x="184309" y="409337"/>
                  <a:pt x="198358" y="401479"/>
                  <a:pt x="202248" y="387985"/>
                </a:cubicBezTo>
                <a:lnTo>
                  <a:pt x="303848" y="32385"/>
                </a:lnTo>
                <a:cubicBezTo>
                  <a:pt x="307737" y="18891"/>
                  <a:pt x="299879" y="4842"/>
                  <a:pt x="286385" y="953"/>
                </a:cubicBezTo>
                <a:close/>
                <a:moveTo>
                  <a:pt x="337661" y="108982"/>
                </a:moveTo>
                <a:cubicBezTo>
                  <a:pt x="327739" y="118904"/>
                  <a:pt x="327739" y="135017"/>
                  <a:pt x="337661" y="144939"/>
                </a:cubicBezTo>
                <a:lnTo>
                  <a:pt x="395922" y="203200"/>
                </a:lnTo>
                <a:lnTo>
                  <a:pt x="337661" y="261461"/>
                </a:lnTo>
                <a:cubicBezTo>
                  <a:pt x="327739" y="271383"/>
                  <a:pt x="327739" y="287496"/>
                  <a:pt x="337661" y="297418"/>
                </a:cubicBezTo>
                <a:cubicBezTo>
                  <a:pt x="347583" y="307340"/>
                  <a:pt x="363696" y="307340"/>
                  <a:pt x="373618" y="297418"/>
                </a:cubicBezTo>
                <a:lnTo>
                  <a:pt x="449818" y="221218"/>
                </a:lnTo>
                <a:cubicBezTo>
                  <a:pt x="459740" y="211296"/>
                  <a:pt x="459740" y="195183"/>
                  <a:pt x="449818" y="185261"/>
                </a:cubicBezTo>
                <a:lnTo>
                  <a:pt x="373618" y="109061"/>
                </a:lnTo>
                <a:cubicBezTo>
                  <a:pt x="363696" y="99139"/>
                  <a:pt x="347583" y="99139"/>
                  <a:pt x="337661" y="109061"/>
                </a:cubicBezTo>
                <a:close/>
                <a:moveTo>
                  <a:pt x="119618" y="108982"/>
                </a:moveTo>
                <a:cubicBezTo>
                  <a:pt x="109696" y="99060"/>
                  <a:pt x="93583" y="99060"/>
                  <a:pt x="83661" y="108982"/>
                </a:cubicBezTo>
                <a:lnTo>
                  <a:pt x="7461" y="185182"/>
                </a:lnTo>
                <a:cubicBezTo>
                  <a:pt x="-2461" y="195104"/>
                  <a:pt x="-2461" y="211217"/>
                  <a:pt x="7461" y="221139"/>
                </a:cubicBezTo>
                <a:lnTo>
                  <a:pt x="83661" y="297339"/>
                </a:lnTo>
                <a:cubicBezTo>
                  <a:pt x="93583" y="307261"/>
                  <a:pt x="109696" y="307261"/>
                  <a:pt x="119618" y="297339"/>
                </a:cubicBezTo>
                <a:cubicBezTo>
                  <a:pt x="129540" y="287417"/>
                  <a:pt x="129540" y="271304"/>
                  <a:pt x="119618" y="261382"/>
                </a:cubicBezTo>
                <a:lnTo>
                  <a:pt x="61357" y="203200"/>
                </a:lnTo>
                <a:lnTo>
                  <a:pt x="119539" y="144939"/>
                </a:lnTo>
                <a:cubicBezTo>
                  <a:pt x="129461" y="135017"/>
                  <a:pt x="129461" y="118904"/>
                  <a:pt x="119539" y="108982"/>
                </a:cubicBezTo>
                <a:close/>
              </a:path>
            </a:pathLst>
          </a:custGeom>
          <a:solidFill>
            <a:srgbClr val="C89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207000" y="2133600"/>
            <a:ext cx="2413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9000" y="2692400"/>
            <a:ext cx="292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99000" y="3124200"/>
            <a:ext cx="292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Model training &amp; fine-tuning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Quantization &amp; LoRA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Evaluation frameworks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Dataset curation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CI/CD for ML pipelines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en-US" sz="1400" i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 own the full stack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28000" y="1905000"/>
            <a:ext cx="3429000" cy="3683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07400" y="2133600"/>
            <a:ext cx="355600" cy="406400"/>
          </a:xfrm>
          <a:custGeom>
            <a:avLst/>
            <a:gdLst/>
            <a:ahLst/>
            <a:cxnLst/>
            <a:rect l="l" t="t" r="r" b="b"/>
            <a:pathLst>
              <a:path w="355600" h="406400">
                <a:moveTo>
                  <a:pt x="50800" y="25400"/>
                </a:moveTo>
                <a:cubicBezTo>
                  <a:pt x="22781" y="25400"/>
                  <a:pt x="0" y="48181"/>
                  <a:pt x="0" y="76200"/>
                </a:cubicBezTo>
                <a:lnTo>
                  <a:pt x="0" y="127000"/>
                </a:lnTo>
                <a:cubicBezTo>
                  <a:pt x="0" y="155019"/>
                  <a:pt x="22781" y="177800"/>
                  <a:pt x="50800" y="177800"/>
                </a:cubicBezTo>
                <a:lnTo>
                  <a:pt x="304800" y="177800"/>
                </a:lnTo>
                <a:cubicBezTo>
                  <a:pt x="332819" y="177800"/>
                  <a:pt x="355600" y="155019"/>
                  <a:pt x="355600" y="127000"/>
                </a:cubicBezTo>
                <a:lnTo>
                  <a:pt x="355600" y="76200"/>
                </a:lnTo>
                <a:cubicBezTo>
                  <a:pt x="355600" y="48181"/>
                  <a:pt x="332819" y="25400"/>
                  <a:pt x="304800" y="25400"/>
                </a:cubicBezTo>
                <a:lnTo>
                  <a:pt x="50800" y="25400"/>
                </a:lnTo>
                <a:close/>
                <a:moveTo>
                  <a:pt x="222250" y="82550"/>
                </a:moveTo>
                <a:cubicBezTo>
                  <a:pt x="232764" y="82550"/>
                  <a:pt x="241300" y="91086"/>
                  <a:pt x="241300" y="101600"/>
                </a:cubicBezTo>
                <a:cubicBezTo>
                  <a:pt x="241300" y="112114"/>
                  <a:pt x="232764" y="120650"/>
                  <a:pt x="222250" y="120650"/>
                </a:cubicBezTo>
                <a:cubicBezTo>
                  <a:pt x="211736" y="120650"/>
                  <a:pt x="203200" y="112114"/>
                  <a:pt x="203200" y="101600"/>
                </a:cubicBezTo>
                <a:cubicBezTo>
                  <a:pt x="203200" y="91086"/>
                  <a:pt x="211736" y="82550"/>
                  <a:pt x="222250" y="82550"/>
                </a:cubicBezTo>
                <a:close/>
                <a:moveTo>
                  <a:pt x="266700" y="101600"/>
                </a:moveTo>
                <a:cubicBezTo>
                  <a:pt x="266700" y="91086"/>
                  <a:pt x="275236" y="82550"/>
                  <a:pt x="285750" y="82550"/>
                </a:cubicBezTo>
                <a:cubicBezTo>
                  <a:pt x="296264" y="82550"/>
                  <a:pt x="304800" y="91086"/>
                  <a:pt x="304800" y="101600"/>
                </a:cubicBezTo>
                <a:cubicBezTo>
                  <a:pt x="304800" y="112114"/>
                  <a:pt x="296264" y="120650"/>
                  <a:pt x="285750" y="120650"/>
                </a:cubicBezTo>
                <a:cubicBezTo>
                  <a:pt x="275236" y="120650"/>
                  <a:pt x="266700" y="112114"/>
                  <a:pt x="266700" y="101600"/>
                </a:cubicBezTo>
                <a:close/>
                <a:moveTo>
                  <a:pt x="50800" y="228600"/>
                </a:moveTo>
                <a:cubicBezTo>
                  <a:pt x="22781" y="228600"/>
                  <a:pt x="0" y="251381"/>
                  <a:pt x="0" y="279400"/>
                </a:cubicBezTo>
                <a:lnTo>
                  <a:pt x="0" y="330200"/>
                </a:lnTo>
                <a:cubicBezTo>
                  <a:pt x="0" y="358219"/>
                  <a:pt x="22781" y="381000"/>
                  <a:pt x="50800" y="381000"/>
                </a:cubicBezTo>
                <a:lnTo>
                  <a:pt x="304800" y="381000"/>
                </a:lnTo>
                <a:cubicBezTo>
                  <a:pt x="332819" y="381000"/>
                  <a:pt x="355600" y="358219"/>
                  <a:pt x="355600" y="330200"/>
                </a:cubicBezTo>
                <a:lnTo>
                  <a:pt x="355600" y="279400"/>
                </a:lnTo>
                <a:cubicBezTo>
                  <a:pt x="355600" y="251381"/>
                  <a:pt x="332819" y="228600"/>
                  <a:pt x="304800" y="228600"/>
                </a:cubicBezTo>
                <a:lnTo>
                  <a:pt x="50800" y="228600"/>
                </a:lnTo>
                <a:close/>
                <a:moveTo>
                  <a:pt x="222250" y="285750"/>
                </a:moveTo>
                <a:cubicBezTo>
                  <a:pt x="232764" y="285750"/>
                  <a:pt x="241300" y="294286"/>
                  <a:pt x="241300" y="304800"/>
                </a:cubicBezTo>
                <a:cubicBezTo>
                  <a:pt x="241300" y="315314"/>
                  <a:pt x="232764" y="323850"/>
                  <a:pt x="222250" y="323850"/>
                </a:cubicBezTo>
                <a:cubicBezTo>
                  <a:pt x="211736" y="323850"/>
                  <a:pt x="203200" y="315314"/>
                  <a:pt x="203200" y="304800"/>
                </a:cubicBezTo>
                <a:cubicBezTo>
                  <a:pt x="203200" y="294286"/>
                  <a:pt x="211736" y="285750"/>
                  <a:pt x="222250" y="285750"/>
                </a:cubicBezTo>
                <a:close/>
                <a:moveTo>
                  <a:pt x="266700" y="304800"/>
                </a:moveTo>
                <a:cubicBezTo>
                  <a:pt x="266700" y="294286"/>
                  <a:pt x="275236" y="285750"/>
                  <a:pt x="285750" y="285750"/>
                </a:cubicBezTo>
                <a:cubicBezTo>
                  <a:pt x="296264" y="285750"/>
                  <a:pt x="304800" y="294286"/>
                  <a:pt x="304800" y="304800"/>
                </a:cubicBezTo>
                <a:cubicBezTo>
                  <a:pt x="304800" y="315314"/>
                  <a:pt x="296264" y="323850"/>
                  <a:pt x="285750" y="323850"/>
                </a:cubicBezTo>
                <a:cubicBezTo>
                  <a:pt x="275236" y="323850"/>
                  <a:pt x="266700" y="315314"/>
                  <a:pt x="266700" y="304800"/>
                </a:cubicBezTo>
                <a:close/>
              </a:path>
            </a:pathLst>
          </a:custGeom>
          <a:solidFill>
            <a:srgbClr val="C8913A"/>
          </a:solidFill>
          <a:ln/>
        </p:spPr>
      </p:sp>
      <p:sp>
        <p:nvSpPr>
          <p:cNvPr id="17" name="Text 15"/>
          <p:cNvSpPr/>
          <p:nvPr/>
        </p:nvSpPr>
        <p:spPr>
          <a:xfrm>
            <a:off x="8890000" y="2133600"/>
            <a:ext cx="2413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82000" y="2692400"/>
            <a:ext cx="292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RUN LOCAL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82000" y="3124200"/>
            <a:ext cx="292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On-premises inference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GPU cluster management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Latency vs. throughput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Model serving at scale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Data sovereignty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en-US" sz="1400" i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 control the stack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11000" y="1905000"/>
            <a:ext cx="3683000" cy="3683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65000" y="2133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C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12573000" y="2133600"/>
            <a:ext cx="2667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065000" y="2692400"/>
            <a:ext cx="317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GOVERN AI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65000" y="3124200"/>
            <a:ext cx="3175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Ethical frameworks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Bias audit protocols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Data privacy &amp; consent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Regulatory compliance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Adventist ethics lens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en-US" sz="1400" i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 lead with integrity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62000" y="5842000"/>
            <a:ext cx="14732000" cy="38100"/>
          </a:xfrm>
          <a:prstGeom prst="rect">
            <a:avLst/>
          </a:prstGeom>
          <a:solidFill>
            <a:srgbClr val="D5D0C8"/>
          </a:solidFill>
          <a:ln/>
        </p:spPr>
      </p:sp>
      <p:sp>
        <p:nvSpPr>
          <p:cNvPr id="26" name="Text 24"/>
          <p:cNvSpPr/>
          <p:nvPr/>
        </p:nvSpPr>
        <p:spPr>
          <a:xfrm>
            <a:off x="762000" y="6096000"/>
            <a:ext cx="14732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7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Every pillar maps to a physical zone in the lab.</a:t>
            </a:r>
            <a:pPr>
              <a:lnSpc>
                <a:spcPct val="160000"/>
              </a:lnSpc>
            </a:pPr>
            <a:r>
              <a:rPr lang="en-US" sz="17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Students don't just learn about AI — they operate production-grade hardware, manage real inference pipelines, and graduate with </a:t>
            </a:r>
            <a:pPr>
              <a:lnSpc>
                <a:spcPct val="160000"/>
              </a:lnSpc>
            </a:pPr>
            <a:r>
              <a:rPr lang="en-US" sz="17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demonstrable portfolio work</a:t>
            </a:r>
            <a:pPr>
              <a:lnSpc>
                <a:spcPct val="160000"/>
              </a:lnSpc>
            </a:pPr>
            <a:r>
              <a:rPr lang="en-US" sz="17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that distinguishes them in the workforce.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curriculum spine serves Applied Math, Info Systems, Business Analytics, Biology/Chemistry data analysis, Theology research, and Media Production. </a:t>
            </a:r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7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lab is a university asset, not a department asset.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VISION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10-Seat Production Lab: Six Physical Zones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879600"/>
            <a:ext cx="4737100" cy="22225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4"/>
          <p:cNvSpPr/>
          <p:nvPr/>
        </p:nvSpPr>
        <p:spPr>
          <a:xfrm>
            <a:off x="1016000" y="20066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16000" y="2336800"/>
            <a:ext cx="42291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 BUILD STATIONS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2717800"/>
            <a:ext cx="42291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 seats with Framework Desktop AI Max+ or Mac Studio M4 Max for active development, coding, and model experimentation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53100" y="1879600"/>
            <a:ext cx="4749800" cy="22225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0" name="Text 8"/>
          <p:cNvSpPr/>
          <p:nvPr/>
        </p:nvSpPr>
        <p:spPr>
          <a:xfrm>
            <a:off x="6007100" y="20066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07100" y="2336800"/>
            <a:ext cx="4241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MODELS CLUSTER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07100" y="2717800"/>
            <a:ext cx="42418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NVIDIA DGX Spark — 1 PFLOP FP4, 128GB unified memory. Flagship inference engine for models up to 200B parameters locally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756900" y="1879600"/>
            <a:ext cx="4737100" cy="22225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4" name="Text 12"/>
          <p:cNvSpPr/>
          <p:nvPr/>
        </p:nvSpPr>
        <p:spPr>
          <a:xfrm>
            <a:off x="11010900" y="20066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010900" y="2336800"/>
            <a:ext cx="42291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DEMO WALL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010900" y="2717800"/>
            <a:ext cx="42291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Large-format display for model visualization, research presentations, and employer demo days. The window into student work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" y="4356100"/>
            <a:ext cx="4737100" cy="22225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8" name="Text 16"/>
          <p:cNvSpPr/>
          <p:nvPr/>
        </p:nvSpPr>
        <p:spPr>
          <a:xfrm>
            <a:off x="1016000" y="44831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16000" y="4813300"/>
            <a:ext cx="42291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STUDIO CORNER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16000" y="5194300"/>
            <a:ext cx="42291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RTX PRO 6000 workstation — 96GB ECC GDDR7. Video/3D AI generation, research compute, and high-resolution generative workflows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53100" y="4356100"/>
            <a:ext cx="4749800" cy="22225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22" name="Text 20"/>
          <p:cNvSpPr/>
          <p:nvPr/>
        </p:nvSpPr>
        <p:spPr>
          <a:xfrm>
            <a:off x="6007100" y="44831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07100" y="4813300"/>
            <a:ext cx="4241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SECURITY TABLE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07100" y="5194300"/>
            <a:ext cx="42418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Networked edge devices for cybersecurity, penetration testing, and AI security research. The ethical hacking station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756900" y="4356100"/>
            <a:ext cx="4737100" cy="22225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26" name="Text 24"/>
          <p:cNvSpPr/>
          <p:nvPr/>
        </p:nvSpPr>
        <p:spPr>
          <a:xfrm>
            <a:off x="11010900" y="44831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010900" y="4813300"/>
            <a:ext cx="42291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EDGE AI STATION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010900" y="5194300"/>
            <a:ext cx="42291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Jetson AGX Thor — 2,070 TFLOPS FP4. Robotics, embedded AI, and IoT development for hands-on edge computing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62000" y="6858000"/>
            <a:ext cx="1473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Every seat is a production station,</a:t>
            </a:r>
            <a:pPr>
              <a:lnSpc>
                <a:spcPct val="150000"/>
              </a:lnSpc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not just a learning terminal. The room signals "AI production" the moment someone enters — with dedicated zones for building, running, showcasing, and securing AI systems.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Annual demo days invite 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Marshall Space Flight Center, Redstone Arsenal contractors, Huntsville startups, and Adventist Health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to see student work — creating a direct recruiting and grant-credibility pipeline.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B2D">
                  <a:alpha val="13000"/>
                </a:srgbClr>
              </a:gs>
              <a:gs pos="40000">
                <a:srgbClr val="0F1B2D">
                  <a:alpha val="63000"/>
                </a:srgbClr>
              </a:gs>
              <a:gs pos="100000">
                <a:srgbClr val="0F1B2D">
                  <a:alpha val="94000"/>
                </a:srgbClr>
              </a:gs>
            </a:gsLst>
            <a:lin ang="54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762000" y="2540000"/>
            <a:ext cx="2540000" cy="1079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762000" y="3746500"/>
            <a:ext cx="1016000" cy="381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40005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000" b="1" spc="5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HARDWARE ARCHITECTURE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4889500"/>
            <a:ext cx="952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Every specification sourced and priced — verified May 2026,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with full awareness of the global memory crisis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HARDWARE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016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Five-Layer Architecture: From Student Seat to Edge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879600"/>
          <a:ext cx="14732000" cy="4699000"/>
        </p:xfrm>
        <a:graphic>
          <a:graphicData uri="http://schemas.openxmlformats.org/drawingml/2006/table">
            <a:tbl>
              <a:tblPr/>
              <a:tblGrid>
                <a:gridCol w="1473200"/>
                <a:gridCol w="2651760"/>
                <a:gridCol w="3241040"/>
                <a:gridCol w="4124960"/>
                <a:gridCol w="3241040"/>
              </a:tblGrid>
              <a:tr h="561837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5F3E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LAYER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5F3E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SYSTEM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5F3E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KEY SPEC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5F3E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PRICE (USD)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5F3E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POWER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1034291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L1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Framework Desktop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Mac Studio M4 Max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AMD Ryzen AI Max+ 395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128 GB unified / 8060S iGPU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36-128 GB / 1TB SSD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$2,500–2,851 built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$1,979 edu (36GB)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$3,329 edu (128GB)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~140W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~130W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34291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L2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NVIDIA DGX Spark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Founders Edition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128 GB unified memory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 PFLOP FP4 sparse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Up to 200B models locally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$4,699 MSRP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Raised from $3,999 (Feb 2026)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~240W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</a:tr>
              <a:tr h="1034291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L3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RTX 5090 Blackwell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RTX PRO 6000 Workstation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32 GB GDDR7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96 GB GDDR7 ECC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$2,500–3,700 retail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(MSRP $1,999 — unavailable)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$7,999–8,900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575W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600W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34291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L4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Jetson AGX Thor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Jetson Orin Nano Super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128 GB · 2,070 TFLOPS FP4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Blackwell + 14-core ARM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8 GB · 67 TOPS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$3,499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$249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40–130W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~15W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62000" y="6794500"/>
            <a:ext cx="71120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DGX Spark positioning:</a:t>
            </a:r>
            <a:pPr>
              <a:lnSpc>
                <a:spcPct val="15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The cleanest demonstration of the full NVIDIA stack (CUDA, NeMo, NIM, Isaac) and the fastest path from lab demo to data-center production. Position as </a:t>
            </a:r>
            <a:pPr>
              <a:lnSpc>
                <a:spcPct val="150000"/>
              </a:lnSpc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flagship, not workhorse</a:t>
            </a:r>
            <a:pPr>
              <a:lnSpc>
                <a:spcPct val="15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4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 Studio reality: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Apple discontinued 128GB/256GB SKUs. Only 36GB, 64GB, 96GB shippable. M5 Max expected October 2026.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55000" y="6794500"/>
            <a:ext cx="7239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RTX 5090 reality:</a:t>
            </a:r>
            <a:pPr>
              <a:lnSpc>
                <a:spcPct val="15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MSRP $1,999 is theoretical. May 2026 retail floor is $2,500–$3,700. GDDR7 is 78% of BOM. Don't promise MSRP.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4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Framework advantage: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AMD benchmarks show AI Max+ 395 at ~$2,566 outperforms DGX Spark on tokens-per-second-per-dollar for many open-weight workloads.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HARDWARE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2026 Memory Crisis: Why Timing Is Everything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905000"/>
            <a:ext cx="3429000" cy="1270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4"/>
          <p:cNvSpPr/>
          <p:nvPr/>
        </p:nvSpPr>
        <p:spPr>
          <a:xfrm>
            <a:off x="1016000" y="2006600"/>
            <a:ext cx="292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0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$700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1016000" y="2667000"/>
            <a:ext cx="3175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DGX Spark MSRP increase (Feb 2026)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45000" y="1905000"/>
            <a:ext cx="3429000" cy="1270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9" name="Text 7"/>
          <p:cNvSpPr/>
          <p:nvPr/>
        </p:nvSpPr>
        <p:spPr>
          <a:xfrm>
            <a:off x="4699000" y="2006600"/>
            <a:ext cx="292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0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70–120%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4699000" y="2667000"/>
            <a:ext cx="292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RTX 5090 above MSRP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28000" y="1905000"/>
            <a:ext cx="3429000" cy="1270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" name="Text 10"/>
          <p:cNvSpPr/>
          <p:nvPr/>
        </p:nvSpPr>
        <p:spPr>
          <a:xfrm>
            <a:off x="8382000" y="2006600"/>
            <a:ext cx="292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0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2028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8382000" y="2667000"/>
            <a:ext cx="292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Earliest shortage relief (Micron VP)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1811000" y="1905000"/>
            <a:ext cx="3683000" cy="1270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5" name="Text 13"/>
          <p:cNvSpPr/>
          <p:nvPr/>
        </p:nvSpPr>
        <p:spPr>
          <a:xfrm>
            <a:off x="12065000" y="2006600"/>
            <a:ext cx="3175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0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$4,200+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12065000" y="2667000"/>
            <a:ext cx="317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128GB DDR5 kit at Micro Center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2000" y="3492500"/>
            <a:ext cx="71120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6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root cause:</a:t>
            </a:r>
            <a:pPr>
              <a:lnSpc>
                <a:spcPct val="155000"/>
              </a:lnSpc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AI datacenters have purchased memory supplies years in advance, creating a demand wave cascading through consumer markets.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Contract DRAM prices </a:t>
            </a:r>
            <a:pPr>
              <a:lnSpc>
                <a:spcPct val="155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nearly doubled</a:t>
            </a:r>
            <a:pPr>
              <a:lnSpc>
                <a:spcPct val="155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 Q4 2025 (DigiTimes). Kingston 64GB DDR5-6000 kits jumped from $230 to $630. HP publicly reduced workstation memory provisioning.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NVIDIA cut RTX 50-series supply 30-40% for H1 2026. KIOXIA has sold out of 2026 NAND production. The crisis affects </a:t>
            </a:r>
            <a:pPr>
              <a:lnSpc>
                <a:spcPct val="155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every line item</a:t>
            </a:r>
            <a:pPr>
              <a:lnSpc>
                <a:spcPct val="155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 this proposal.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55000" y="3492500"/>
            <a:ext cx="7239000" cy="34925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9" name="Shape 17"/>
          <p:cNvSpPr/>
          <p:nvPr/>
        </p:nvSpPr>
        <p:spPr>
          <a:xfrm>
            <a:off x="8255000" y="3492500"/>
            <a:ext cx="50800" cy="33020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8636000" y="3657600"/>
            <a:ext cx="6604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THREE OPERATIONAL IMPERATIVES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36000" y="4089400"/>
            <a:ext cx="660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5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1. Lock quotes fast.</a:t>
            </a:r>
            <a:pPr>
              <a:lnSpc>
                <a:spcPct val="160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Vendor quotes have shorter validity in 2026. Get written quotes with expiration dates on every line item.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2. Prefer high-memory SKUs now.</a:t>
            </a:r>
            <a:pPr>
              <a:lnSpc>
                <a:spcPct val="160000"/>
              </a:lnSpc>
              <a:spcBef>
                <a:spcPts val="6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If a 128GB DGX Spark or Framework Desktop is available, buy it now. Memory upgrades are getting harder, not easier.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 Build in 10–15% contingency.</a:t>
            </a:r>
            <a:pPr>
              <a:lnSpc>
                <a:spcPct val="160000"/>
              </a:lnSpc>
              <a:spcBef>
                <a:spcPts val="6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Each tier should carry a contingency line — not for project risk, but for memory-line risk.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62000" y="70485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Sources: </a:t>
            </a:r>
            <a:pPr>
              <a:lnSpc>
                <a:spcPct val="140000"/>
              </a:lnSpc>
            </a:pPr>
            <a:r>
              <a:rPr lang="en-US" sz="1200" u="sng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  <a:hlinkClick r:id="rId1" tooltip="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Tom's Hardware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(Dec 2025); Ars Technica (Nov 2025); DigiTimes (Dec 2025); NVIDIA price change announcement (Feb 23, 2026)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11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B2D">
                  <a:alpha val="6000"/>
                </a:srgbClr>
              </a:gs>
              <a:gs pos="40000">
                <a:srgbClr val="0F1B2D">
                  <a:alpha val="63000"/>
                </a:srgbClr>
              </a:gs>
              <a:gs pos="100000">
                <a:srgbClr val="0F1B2D">
                  <a:alpha val="94000"/>
                </a:srgbClr>
              </a:gs>
            </a:gsLst>
            <a:lin ang="54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762000" y="2540000"/>
            <a:ext cx="2540000" cy="1079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762000" y="3746500"/>
            <a:ext cx="1016000" cy="381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40005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000" b="1" spc="5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INVESTMENT FRAMEWORK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4889500"/>
            <a:ext cx="952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Four budget tiers from $20K to $200K — each a complete,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production-ready lab with curriculum and procurement memo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INVESTMENT FRAMEWORK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Four Budget Tiers: From Pilot to Flagship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879600"/>
            <a:ext cx="3492500" cy="4953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1879600"/>
            <a:ext cx="3492500" cy="63500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7" name="Text 5"/>
          <p:cNvSpPr/>
          <p:nvPr/>
        </p:nvSpPr>
        <p:spPr>
          <a:xfrm>
            <a:off x="1016000" y="2133600"/>
            <a:ext cx="29845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$20K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016000" y="2794000"/>
            <a:ext cx="2984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STARTER LAB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3200400"/>
            <a:ext cx="29845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4x Framework Desktop seats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1x Jetson Orin Nano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Shared displays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Open-source curriculum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16000" y="52070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Best for: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Title III pilot or departmental seed funding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16000" y="5905500"/>
            <a:ext cx="2984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Deliverable: 5 days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08500" y="1879600"/>
            <a:ext cx="3492500" cy="4953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3" name="Shape 11"/>
          <p:cNvSpPr/>
          <p:nvPr/>
        </p:nvSpPr>
        <p:spPr>
          <a:xfrm>
            <a:off x="4508500" y="1879600"/>
            <a:ext cx="3492500" cy="635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14" name="Text 12"/>
          <p:cNvSpPr/>
          <p:nvPr/>
        </p:nvSpPr>
        <p:spPr>
          <a:xfrm>
            <a:off x="4762500" y="2133600"/>
            <a:ext cx="29845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$50K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4762500" y="2794000"/>
            <a:ext cx="2984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PRODUCTION LAB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62500" y="3200400"/>
            <a:ext cx="29845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6x Framework Desktop seats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1x DGX Spark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2x Jetson Orin Nano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Demo display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Full 8-week curriculum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62500" y="52070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Best for: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State/grant funds with "use or lose" deadlines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62500" y="5905500"/>
            <a:ext cx="2984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Deliverable: 5 days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55000" y="1879600"/>
            <a:ext cx="3492500" cy="4953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20" name="Shape 18"/>
          <p:cNvSpPr/>
          <p:nvPr/>
        </p:nvSpPr>
        <p:spPr>
          <a:xfrm>
            <a:off x="8255000" y="1879600"/>
            <a:ext cx="3492500" cy="635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1" name="Text 19"/>
          <p:cNvSpPr/>
          <p:nvPr/>
        </p:nvSpPr>
        <p:spPr>
          <a:xfrm>
            <a:off x="8509000" y="2133600"/>
            <a:ext cx="29845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$100K</a:t>
            </a:r>
            <a:endParaRPr lang="en-US" sz="5200" dirty="0"/>
          </a:p>
        </p:txBody>
      </p:sp>
      <p:sp>
        <p:nvSpPr>
          <p:cNvPr id="22" name="Text 20"/>
          <p:cNvSpPr/>
          <p:nvPr/>
        </p:nvSpPr>
        <p:spPr>
          <a:xfrm>
            <a:off x="8509000" y="2794000"/>
            <a:ext cx="2984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RESEARCH LAB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509000" y="3200400"/>
            <a:ext cx="29845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8x mixed seats (Framework + Mac Studio edu)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1x DGX Spark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1x RTX PRO 6000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Full edge AI suite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Faculty research memo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Employer MOU templates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509000" y="5384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Best for: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Multi-year federal or foundation grants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09000" y="6045200"/>
            <a:ext cx="2984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Deliverable: 7 days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2001500" y="1879600"/>
            <a:ext cx="3492500" cy="4953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0" y="1879600"/>
            <a:ext cx="3492500" cy="635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28" name="Text 26"/>
          <p:cNvSpPr/>
          <p:nvPr/>
        </p:nvSpPr>
        <p:spPr>
          <a:xfrm>
            <a:off x="12255500" y="2133600"/>
            <a:ext cx="29845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$200K</a:t>
            </a:r>
            <a:endParaRPr lang="en-US" sz="5200" dirty="0"/>
          </a:p>
        </p:txBody>
      </p:sp>
      <p:sp>
        <p:nvSpPr>
          <p:cNvPr id="29" name="Text 27"/>
          <p:cNvSpPr/>
          <p:nvPr/>
        </p:nvSpPr>
        <p:spPr>
          <a:xfrm>
            <a:off x="12255500" y="2794000"/>
            <a:ext cx="2984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1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FLAGSHIP LAB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255500" y="3200400"/>
            <a:ext cx="29845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10x premium seats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2x DGX Spark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2x RTX PRO 6000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Full demo wall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Dedicated server rack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Naming opportunity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255500" y="52070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Best for: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Donor capital with visibility expectations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255500" y="5905500"/>
            <a:ext cx="2984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Deliverable: 7 days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62000" y="7086600"/>
            <a:ext cx="14732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Each tier includes:</a:t>
            </a:r>
            <a:pPr>
              <a:lnSpc>
                <a:spcPct val="150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procurement memo with locked SKUs and vendor quote expiration dates, room layout against actual space, 8-week pilot curriculum, lab owner job description (0.2 FTE), and documented runbooks.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key question for Dr. Smith: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"Which of these four windows matches the funding source you're working with — and when does that funding need to be committed?"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INVESTMENT FRAMEWORK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Education Pricing &amp; Procurement Paths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62000" y="1879600"/>
            <a:ext cx="7112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EDUCATION DISCOUNT PROGRAMS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336800"/>
            <a:ext cx="7112000" cy="1397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7" name="Text 5"/>
          <p:cNvSpPr/>
          <p:nvPr/>
        </p:nvSpPr>
        <p:spPr>
          <a:xfrm>
            <a:off x="1016000" y="2463800"/>
            <a:ext cx="660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Apple Education Institutional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2794000"/>
            <a:ext cx="660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 Studio M4 Max 36GB — </a:t>
            </a:r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$1,979</a:t>
            </a:r>
            <a:pPr>
              <a:lnSpc>
                <a:spcPct val="15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edu vs $2,499 retail (21% savings)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 Studio M4 Max 128GB — </a:t>
            </a:r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$3,329</a:t>
            </a:r>
            <a:pPr>
              <a:lnSpc>
                <a:spcPct val="15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edu (confirmed Apr 1, 2026 price list)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3911600"/>
            <a:ext cx="7112000" cy="1270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0" name="Text 8"/>
          <p:cNvSpPr/>
          <p:nvPr/>
        </p:nvSpPr>
        <p:spPr>
          <a:xfrm>
            <a:off x="1016000" y="4038600"/>
            <a:ext cx="660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NVIDIA Academic / NPN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16000" y="4368800"/>
            <a:ext cx="660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10–15% discount on RTX PRO and DGX class hardware + free 90-day DGX Spark AI Enterprise license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2000" y="5334000"/>
            <a:ext cx="7112000" cy="1270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3" name="Text 11"/>
          <p:cNvSpPr/>
          <p:nvPr/>
        </p:nvSpPr>
        <p:spPr>
          <a:xfrm>
            <a:off x="1016000" y="5461000"/>
            <a:ext cx="660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AMD University / Framework EDU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6000" y="5791200"/>
            <a:ext cx="660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HBCU hardware grants and lab seed programs. Framework has historically offered EDU bundles on Desktop AI Max line.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82000" y="1879600"/>
            <a:ext cx="7112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PROCUREMENT PATHS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382000" y="2336800"/>
            <a:ext cx="7112000" cy="12065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7" name="Text 15"/>
          <p:cNvSpPr/>
          <p:nvPr/>
        </p:nvSpPr>
        <p:spPr>
          <a:xfrm>
            <a:off x="8636000" y="2463800"/>
            <a:ext cx="660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Title III HBCU Funds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36000" y="2794000"/>
            <a:ext cx="6604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Federal restricted use, audit trail required, allowable-cost rules apply. Best for hardware mapped to curriculum.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82000" y="3721100"/>
            <a:ext cx="7112000" cy="12065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0" name="Text 18"/>
          <p:cNvSpPr/>
          <p:nvPr/>
        </p:nvSpPr>
        <p:spPr>
          <a:xfrm>
            <a:off x="8636000" y="3848100"/>
            <a:ext cx="660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State or Grant Funds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36000" y="4178300"/>
            <a:ext cx="6604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Reporting requirements, deadline-driven, sometimes "use or lose." Favors $50K or $100K path with clear deliverables.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382000" y="5105400"/>
            <a:ext cx="7112000" cy="12065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3" name="Text 21"/>
          <p:cNvSpPr/>
          <p:nvPr/>
        </p:nvSpPr>
        <p:spPr>
          <a:xfrm>
            <a:off x="8636000" y="5232400"/>
            <a:ext cx="660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Donor / Unrestricted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36000" y="5562600"/>
            <a:ext cx="6604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Most flexible. Often expects a narrative deliverable. Best for $200K flagship with naming opportunity.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62000" y="6731000"/>
            <a:ext cx="1473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procurement question to ask Dr. Smith:</a:t>
            </a:r>
            <a:pPr>
              <a:lnSpc>
                <a:spcPct val="160000"/>
              </a:lnSpc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"Which of these four windows matches the funding source you're working with — and when does that funding need to be committed?" Her answer reframes the entire meeting.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Reach out via the </a:t>
            </a:r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NVIDIA Marketplace</a:t>
            </a:r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as Oakwood University, Department of Mathematics &amp; Computer Science to activate academic pricing. Apple's education price list is current as of </a:t>
            </a:r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April 1, 2026</a:t>
            </a:r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62000" y="8509000"/>
            <a:ext cx="762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Source: </a:t>
            </a:r>
            <a:pPr>
              <a:lnSpc>
                <a:spcPct val="140000"/>
              </a:lnSpc>
            </a:pPr>
            <a:r>
              <a:rPr lang="en-US" sz="1200" u="sng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  <a:hlinkClick r:id="rId1" tooltip="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Apple Education Institution Price List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(Apr 1, 2026)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14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B2D">
                  <a:alpha val="13000"/>
                </a:srgbClr>
              </a:gs>
              <a:gs pos="40000">
                <a:srgbClr val="0F1B2D">
                  <a:alpha val="63000"/>
                </a:srgbClr>
              </a:gs>
              <a:gs pos="100000">
                <a:srgbClr val="0F1B2D">
                  <a:alpha val="94000"/>
                </a:srgbClr>
              </a:gs>
            </a:gsLst>
            <a:lin ang="54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762000" y="2540000"/>
            <a:ext cx="2540000" cy="1079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762000" y="3746500"/>
            <a:ext cx="1016000" cy="381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40005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000" b="1" spc="5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IMPLEMENTATION &amp; IMPACT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4889500"/>
            <a:ext cx="952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 90-day roadmap from signed agreement to student demos —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with risk mitigations for every known obstacle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IMPLEMENTATION &amp; IMPACT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016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90-Day Implementation Roadmap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2349500"/>
            <a:ext cx="14732000" cy="381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6" name="Shape 4"/>
          <p:cNvSpPr/>
          <p:nvPr/>
        </p:nvSpPr>
        <p:spPr>
          <a:xfrm>
            <a:off x="1968500" y="2247900"/>
            <a:ext cx="228600" cy="228600"/>
          </a:xfrm>
          <a:prstGeom prst="ellipse">
            <a:avLst/>
          </a:prstGeom>
          <a:solidFill>
            <a:srgbClr val="C8913A"/>
          </a:solidFill>
          <a:ln/>
        </p:spPr>
      </p:sp>
      <p:sp>
        <p:nvSpPr>
          <p:cNvPr id="7" name="Shape 5"/>
          <p:cNvSpPr/>
          <p:nvPr/>
        </p:nvSpPr>
        <p:spPr>
          <a:xfrm>
            <a:off x="7175500" y="2247900"/>
            <a:ext cx="228600" cy="228600"/>
          </a:xfrm>
          <a:prstGeom prst="ellipse">
            <a:avLst/>
          </a:prstGeom>
          <a:solidFill>
            <a:srgbClr val="C8913A"/>
          </a:solidFill>
          <a:ln/>
        </p:spPr>
      </p:sp>
      <p:sp>
        <p:nvSpPr>
          <p:cNvPr id="8" name="Shape 6"/>
          <p:cNvSpPr/>
          <p:nvPr/>
        </p:nvSpPr>
        <p:spPr>
          <a:xfrm>
            <a:off x="12382500" y="2247900"/>
            <a:ext cx="228600" cy="228600"/>
          </a:xfrm>
          <a:prstGeom prst="ellipse">
            <a:avLst/>
          </a:prstGeom>
          <a:solidFill>
            <a:srgbClr val="C8913A"/>
          </a:solidFill>
          <a:ln/>
        </p:spPr>
      </p:sp>
      <p:sp>
        <p:nvSpPr>
          <p:cNvPr id="9" name="Text 7"/>
          <p:cNvSpPr/>
          <p:nvPr/>
        </p:nvSpPr>
        <p:spPr>
          <a:xfrm>
            <a:off x="762000" y="1968500"/>
            <a:ext cx="330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b="1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WEEKS 1–2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1968500"/>
            <a:ext cx="330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b="1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WEEKS 3–6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22000" y="1968500"/>
            <a:ext cx="330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b="1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WEEKS 7–12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2000" y="2667000"/>
            <a:ext cx="4699000" cy="3302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3" name="Text 11"/>
          <p:cNvSpPr/>
          <p:nvPr/>
        </p:nvSpPr>
        <p:spPr>
          <a:xfrm>
            <a:off x="1016000" y="2819400"/>
            <a:ext cx="4191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spc="1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PROCUREMENT &amp; SPACE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6000" y="3251200"/>
            <a:ext cx="4191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Lock vendor quotes (30-day window)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Electrical &amp; HVAC review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Network backbone assessment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Room layout finalization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Procurement office coordination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Deliverable:</a:t>
            </a:r>
            <a:pPr>
              <a:lnSpc>
                <a:spcPct val="160000"/>
              </a:lnSpc>
              <a:spcBef>
                <a:spcPts val="800"/>
              </a:spcBef>
            </a:pPr>
            <a:r>
              <a:rPr lang="en-US" sz="1400" dirty="0">
                <a:solidFill>
                  <a:srgbClr val="F5F3E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Signed purchase orders, approved space plan, network readiness report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0" y="2667000"/>
            <a:ext cx="4699000" cy="3302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6" name="Text 14"/>
          <p:cNvSpPr/>
          <p:nvPr/>
        </p:nvSpPr>
        <p:spPr>
          <a:xfrm>
            <a:off x="5969000" y="2819400"/>
            <a:ext cx="4191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 &amp; TRAIN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69000" y="3251200"/>
            <a:ext cx="4191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Hardware delivery and setup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Lab owner training (0.2 FTE)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Student assistant onboarding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Curriculum dry-run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Network and security config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Deliverable:</a:t>
            </a:r>
            <a:pPr>
              <a:lnSpc>
                <a:spcPct val="160000"/>
              </a:lnSpc>
              <a:spcBef>
                <a:spcPts val="800"/>
              </a:spcBef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Operational lab, trained staff, curriculum validated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668000" y="2667000"/>
            <a:ext cx="4826000" cy="3302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9" name="Text 17"/>
          <p:cNvSpPr/>
          <p:nvPr/>
        </p:nvSpPr>
        <p:spPr>
          <a:xfrm>
            <a:off x="10922000" y="2819400"/>
            <a:ext cx="4318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spc="1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LAUNCH &amp; DEMO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922000" y="3251200"/>
            <a:ext cx="4318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Pilot cohort begins (10-15 students)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First student projects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External demo day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Grant proposal submission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Employer partnership MOUs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Deliverable:</a:t>
            </a:r>
            <a:pPr>
              <a:lnSpc>
                <a:spcPct val="160000"/>
              </a:lnSpc>
              <a:spcBef>
                <a:spcPts val="800"/>
              </a:spcBef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Student demos, employer connections, follow-on funding pipeline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62000" y="62230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SUSTAINABILITY BUILT IN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62000" y="6629400"/>
            <a:ext cx="14732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5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Annual sustainment line:</a:t>
            </a:r>
            <a:pPr>
              <a:lnSpc>
                <a:spcPct val="155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~10% of capex/year — software licenses, consumables, replacement peripherals, light hardware refresh. For a $50K lab, that's ~$5K/year.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Lab owner FTE:</a:t>
            </a:r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Even 0.2 FTE faculty/staff time, formally allocated, prevents the lab from becoming someone's unpaid second job. Get this in writing during procurement memo phase.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 lab assistants:</a:t>
            </a:r>
            <a:pPr>
              <a:lnSpc>
                <a:spcPct val="15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2-3 student workers from first cohort, on Federal Work-Study, doing maintenance, onboarding, and demo prep. They become the institutional memory.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16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IMPLEMENTATION &amp; IMPACT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016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Risk Matrix &amp; Mitigations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879600"/>
          <a:ext cx="14732000" cy="4826000"/>
        </p:xfrm>
        <a:graphic>
          <a:graphicData uri="http://schemas.openxmlformats.org/drawingml/2006/table">
            <a:tbl>
              <a:tblPr/>
              <a:tblGrid>
                <a:gridCol w="5156200"/>
                <a:gridCol w="2357120"/>
                <a:gridCol w="7218680"/>
              </a:tblGrid>
              <a:tr h="481333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5F3E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RISK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5F3E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PROBABILITY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5F3E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MITIGATION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620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Memory crisis pushes prices 20-30% higher before quotes lock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Medium-High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Lock quotes inside 30 days. Add 15% contingency line. Consider Framework over Mac if budget is tight.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Campus network can't support 10GbE backbone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Medium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Walk the room with IT before committing. Budget a network upgrade line in $50K+ tiers.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</a:tr>
              <a:tr h="620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AC / power load for GPU server insufficient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Medium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Get electrical and HVAC review during Weeks 1-2. RTX PRO 6000 alone is 600W sustained.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Faculty buy-in limited to Dr. Smith alone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Low-Med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Identify second champion (Osei or Patel) early. Pilot cohort includes cross-faculty TA.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</a:tr>
              <a:tr h="620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Mac Studio M5 ships Oct 2026 mid-procurement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Medium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For Mac-leaning tiers, hold off on Mac purchase until M5 ships unless funding deadline forces it.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Title III audit flags non-academic spend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Low-Med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Document curriculum tie-in for every line item. Get OU procurement office input on Day 1.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4"/>
                    </a:solidFill>
                  </a:tcPr>
                </a:tc>
              </a:tr>
              <a:tr h="620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Student attrition between funding and demo day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8913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Low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2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Recruit 12-15 students for 10 active seats, with explicit demo-day commitment in writing.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0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62000" y="6921500"/>
            <a:ext cx="14732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Hardware is the easy part. Sustainment is where labs die.</a:t>
            </a:r>
            <a:pPr>
              <a:lnSpc>
                <a:spcPct val="150000"/>
              </a:lnSpc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Build these into the Year-1 plan: annual demo day inviting Huntsville-area employers (Marshall Space Flight Center, Redstone Arsenal contractors, Huntsville tech startups, Adventist Health) to see student work. This is the recruiting and grant-credibility pipeline that justifies ongoing investment.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three-tier maintenance model: 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(1)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vendor support contracts for hardware, 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(2)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designated faculty/staff lab owner with documented runbooks, 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(3)</a:t>
            </a:r>
            <a:pPr>
              <a:lnSpc>
                <a:spcPct val="150000"/>
              </a:lnSpc>
              <a:spcBef>
                <a:spcPts val="600"/>
              </a:spcBef>
            </a:pPr>
            <a:r>
              <a:rPr lang="en-US" sz="15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student lab assistants trained in the first cohort. Year-1 budget: ~$3-5K/year for support and consumables.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17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09600"/>
            <a:ext cx="50800" cy="3048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3" name="Text 1"/>
          <p:cNvSpPr/>
          <p:nvPr/>
        </p:nvSpPr>
        <p:spPr>
          <a:xfrm>
            <a:off x="965200" y="609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spc="200" kern="0" dirty="0">
                <a:solidFill>
                  <a:srgbClr val="C8913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IMPLEMENTATION &amp; IMPACT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0F1B2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Next Steps: Three Deliverable Packages Ready to Ship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879600"/>
            <a:ext cx="4737100" cy="3556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1879600"/>
            <a:ext cx="4737100" cy="63500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7" name="Text 5"/>
          <p:cNvSpPr/>
          <p:nvPr/>
        </p:nvSpPr>
        <p:spPr>
          <a:xfrm>
            <a:off x="1016000" y="2133600"/>
            <a:ext cx="42291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200" b="1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IF $20K OR $50K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2438400"/>
            <a:ext cx="42291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Package A — Starter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2870200"/>
            <a:ext cx="42291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3-page procurement memo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Room layout for chosen tier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Vendor quote list with expiration dates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8-week pilot curriculum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Lab owner job description (0.2 FTE)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Target: 5 days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53100" y="1879600"/>
            <a:ext cx="4749800" cy="3556000"/>
          </a:xfrm>
          <a:prstGeom prst="rect">
            <a:avLst/>
          </a:prstGeom>
          <a:solidFill>
            <a:srgbClr val="EDEAE4"/>
          </a:solidFill>
          <a:ln/>
        </p:spPr>
      </p:sp>
      <p:sp>
        <p:nvSpPr>
          <p:cNvPr id="11" name="Shape 9"/>
          <p:cNvSpPr/>
          <p:nvPr/>
        </p:nvSpPr>
        <p:spPr>
          <a:xfrm>
            <a:off x="5753100" y="1879600"/>
            <a:ext cx="4749800" cy="635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12" name="Text 10"/>
          <p:cNvSpPr/>
          <p:nvPr/>
        </p:nvSpPr>
        <p:spPr>
          <a:xfrm>
            <a:off x="6007100" y="2133600"/>
            <a:ext cx="42418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200" b="1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IF $100K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07100" y="2438400"/>
            <a:ext cx="42418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Package B — Research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07100" y="2870200"/>
            <a:ext cx="42418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400" b="1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All of Package A, plus: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Faculty research framing memo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MOU template for employer internships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Draft NSF/Title III proposal narrative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Target: 7 days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756900" y="1879600"/>
            <a:ext cx="4737100" cy="3556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56900" y="1879600"/>
            <a:ext cx="4737100" cy="635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17" name="Text 15"/>
          <p:cNvSpPr/>
          <p:nvPr/>
        </p:nvSpPr>
        <p:spPr>
          <a:xfrm>
            <a:off x="11010900" y="2133600"/>
            <a:ext cx="42291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200" b="1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IF $200K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010900" y="2438400"/>
            <a:ext cx="42291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Package C — Flagship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010900" y="2870200"/>
            <a:ext cx="42291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400" b="1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All of Package B, plus: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Donor-facing one-pager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Naming opportunity framework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· Partner-recruitment letter to tier-one employer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Target: 7 days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000" y="57150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600" b="1" spc="200" kern="0" dirty="0">
                <a:solidFill>
                  <a:srgbClr val="0F1B2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POST-MEETING CADENCE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62000" y="6159500"/>
            <a:ext cx="14732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Same-day:</a:t>
            </a:r>
            <a:pPr>
              <a:lnSpc>
                <a:spcPct val="160000"/>
              </a:lnSpc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Send 1-paragraph thank-you naming the funding window she shared and confirming the next deliverable. This anchors the conversation in writing.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Day 3:</a:t>
            </a:r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Ship the deliverable package.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Day 7:</a:t>
            </a:r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Follow up if no response.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C891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Day 14:</a:t>
            </a:r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1A1D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Schedule check-in regardless. Do not let it cool past three weeks.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62000" y="8001000"/>
            <a:ext cx="147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i="1" dirty="0">
                <a:solidFill>
                  <a:srgbClr val="0F1B2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"Walk out with a confirmed funding window and a follow-up meeting — that's a win, even if no money moves today."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2000" y="869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00" spc="100" kern="0" dirty="0">
                <a:solidFill>
                  <a:srgbClr val="6B72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OAKWOOD AI LAB · CONFIDENTIAL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732000" y="8699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2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18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B2D">
                  <a:alpha val="50000"/>
                </a:srgbClr>
              </a:gs>
              <a:gs pos="50000">
                <a:srgbClr val="0F1B2D">
                  <a:alpha val="75000"/>
                </a:srgbClr>
              </a:gs>
              <a:gs pos="100000">
                <a:srgbClr val="0F1B2D">
                  <a:alpha val="94000"/>
                </a:srgbClr>
              </a:gs>
            </a:gsLst>
            <a:lin ang="5400000" scaled="1"/>
          </a:gradFill>
          <a:ln/>
        </p:spPr>
      </p:sp>
      <p:sp>
        <p:nvSpPr>
          <p:cNvPr id="3" name="Shape 1"/>
          <p:cNvSpPr/>
          <p:nvPr/>
        </p:nvSpPr>
        <p:spPr>
          <a:xfrm>
            <a:off x="6858000" y="2540000"/>
            <a:ext cx="2540000" cy="38100"/>
          </a:xfrm>
          <a:prstGeom prst="rect">
            <a:avLst/>
          </a:prstGeom>
          <a:solidFill>
            <a:srgbClr val="C8913A"/>
          </a:solidFill>
          <a:ln/>
        </p:spPr>
      </p:sp>
      <p:sp>
        <p:nvSpPr>
          <p:cNvPr id="4" name="Text 2"/>
          <p:cNvSpPr/>
          <p:nvPr/>
        </p:nvSpPr>
        <p:spPr>
          <a:xfrm>
            <a:off x="1778000" y="2921000"/>
            <a:ext cx="12700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3200" b="1" spc="2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AI IS COLLAPSING THE DISTANCE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3200" b="1" spc="200" kern="0" dirty="0">
                <a:solidFill>
                  <a:srgbClr val="F5F3E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BETWEEN IDEA AND IMPLEMENTATION.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778000" y="4826000"/>
            <a:ext cx="1270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20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 who learn this now graduate with a different ceiling.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20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Oakwood has the position, the moment, and the partner.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78000" y="6096000"/>
            <a:ext cx="1270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spc="3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LET'S BUILD 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0" y="6858000"/>
            <a:ext cx="2540000" cy="25400"/>
          </a:xfrm>
          <a:prstGeom prst="rect">
            <a:avLst/>
          </a:prstGeom>
          <a:solidFill>
            <a:srgbClr val="C8913A">
              <a:alpha val="5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778000" y="7112000"/>
            <a:ext cx="1270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Prepared for Dr. Shushannah Smith, Chair — Mathematics &amp; Computer Science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400" dirty="0">
                <a:solidFill>
                  <a:srgbClr val="B0A99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Oakwood University · Huntsville, Alabama · May 2026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88000" y="82550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spc="200" kern="0" dirty="0">
                <a:solidFill>
                  <a:srgbClr val="C891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INTERNAL · CONFIDENTIAL · NOT FOR DISTRIBUTION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oakwood_ai_lab.pptd</dc:title>
  <dc:subject>oakwood_ai_lab.pptd</dc:subject>
  <dc:creator>Kimi</dc:creator>
  <cp:lastModifiedBy>Kimi</cp:lastModifiedBy>
  <cp:revision>1</cp:revision>
  <dcterms:created xsi:type="dcterms:W3CDTF">2026-05-18T21:01:03Z</dcterms:created>
  <dcterms:modified xsi:type="dcterms:W3CDTF">2026-05-18T21:01:03Z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{"Label":"oakwood_ai_lab.pptd","ContentProducer":"001191110108MACG2KBH8F10000","ProduceID":"","ReservedCode1":"","ContentPropagator":"001191110108MACG2KBH8F20000","PropagateID":"","ReservedCode2":""}</vt:lpwstr>
  </property>
</Properties>
</file>