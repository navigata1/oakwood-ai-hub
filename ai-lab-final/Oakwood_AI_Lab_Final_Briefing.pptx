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1704320" cy="658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b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704320" cy="6583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498079" cy="65836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913A"/>
                </a:solidFill>
                <a:latin typeface="Aptos"/>
              </a:rPr>
              <a:t>STRATEGIC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5F3EF"/>
                </a:solidFill>
                <a:latin typeface="Aptos"/>
              </a:rPr>
              <a:t>Oakwood AI Innovation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0280"/>
            <a:ext cx="6080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5F3EF"/>
                </a:solidFill>
                <a:latin typeface="Aptos"/>
              </a:rPr>
              <a:t>A practical, fundable, student-centered AI production lab for Oakwood University's Mathematics &amp; Computer Sciences department.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212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5F3EF"/>
                </a:solidFill>
                <a:latin typeface="Aptos"/>
              </a:rPr>
              <a:t>Prepared by Island Development Crew |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636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F5F3EF"/>
                </a:solidFill>
                <a:latin typeface="Aptos"/>
              </a:rPr>
              <a:t>OAKWOOD AI LAB ·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913A"/>
                </a:solidFill>
                <a:latin typeface="Aptos"/>
              </a:rPr>
              <a:t>EXECUTIVE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B2D"/>
                </a:solidFill>
                <a:latin typeface="Aptos"/>
              </a:rPr>
              <a:t>Do not build a computer lab. Build a production studio.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5568"/>
                </a:solidFill>
                <a:latin typeface="Aptos"/>
              </a:rPr>
              <a:t>The opportunity is not simply new desktops. The opportunity is a lab where students use AI, build AI systems, run local models, practice governance, and leave with public portfolio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07792"/>
            <a:ext cx="8961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10-seat lab concept designed around student output, not hardware display.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Four budget paths: $20K, $50K, $100K, and $200K.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Hardware, curriculum, governance, and deployment are planned together.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The recommended next move is to confirm the funding window and produce a procurement-ready memo.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636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87180"/>
                </a:solidFill>
                <a:latin typeface="Aptos"/>
              </a:rPr>
              <a:t>OAKWOOD AI LAB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913A"/>
                </a:solidFill>
                <a:latin typeface="Aptos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B2D"/>
                </a:solidFill>
                <a:latin typeface="Aptos"/>
              </a:rPr>
              <a:t>AI has compressed the distance between idea and implementation.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5568"/>
                </a:solidFill>
                <a:latin typeface="Aptos"/>
              </a:rPr>
              <a:t>High school and college-age builders are already launching apps, media systems, and AI-assisted products at professional speed. Oakwood can turn that reality into a structured advantage for its students.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07792"/>
            <a:ext cx="8961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Students should graduate with shipped projects, demos, and technical explanations.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Huntsville's defense, aerospace, cyber, and engineering ecosystem gives the lab a natural employer pipeline.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HBCU AI capacity is a national workforce priority; Oakwood can frame this as workforce readiness plus ethical leadership.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Local model capability matters because privacy, security, latency, cost, and governance cannot be learned only through cloud chat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636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87180"/>
                </a:solidFill>
                <a:latin typeface="Aptos"/>
              </a:rPr>
              <a:t>OAKWOOD AI LAB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913A"/>
                </a:solidFill>
                <a:latin typeface="Aptos"/>
              </a:rPr>
              <a:t>OAKWOOD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B2D"/>
                </a:solidFill>
                <a:latin typeface="Aptos"/>
              </a:rPr>
              <a:t>HBCU + Adventist + STEM is a distinct AI voice.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5568"/>
                </a:solidFill>
                <a:latin typeface="Aptos"/>
              </a:rPr>
              <a:t>Oakwood can speak to responsible AI from a position most institutions cannot: technical skill joined to human dignity, service, stewardship, and community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07792"/>
            <a:ext cx="8961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The lab can serve Computer Science, Applied Math, Information Technology, Business Analytics, Media, Health, Theology research, and campus operations.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Responsible AI becomes a practiced workflow: data classification, approval gates, audit trails, evaluation, and human-in-the-loop design.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A visible lab gives donors, administrators, faculty, and students a concrete artifact to rally around.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636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87180"/>
                </a:solidFill>
                <a:latin typeface="Aptos"/>
              </a:rPr>
              <a:t>OAKWOOD AI LAB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913A"/>
                </a:solidFill>
                <a:latin typeface="Aptos"/>
              </a:rPr>
              <a:t>LEARNING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B2D"/>
                </a:solidFill>
                <a:latin typeface="Aptos"/>
              </a:rPr>
              <a:t>Four pillars: use AI, build AI, run local, govern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5568"/>
                </a:solidFill>
                <a:latin typeface="Aptos"/>
              </a:rPr>
              <a:t>Each pillar maps to classroom workflows, physical lab zones, and portfolio-ready student outcomes.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788920"/>
            <a:ext cx="4937760" cy="987552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9864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B2D"/>
                </a:solidFill>
                <a:latin typeface="Aptos"/>
              </a:rPr>
              <a:t>Use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72968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0">
                <a:solidFill>
                  <a:srgbClr val="4A5568"/>
                </a:solidFill>
                <a:latin typeface="Aptos"/>
              </a:rPr>
              <a:t>Prompting, research, writing, analysis, design, coding, and presentation.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2788920"/>
            <a:ext cx="4937760" cy="987552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289864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B2D"/>
                </a:solidFill>
                <a:latin typeface="Aptos"/>
              </a:rPr>
              <a:t>Build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3172968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0">
                <a:solidFill>
                  <a:srgbClr val="4A5568"/>
                </a:solidFill>
                <a:latin typeface="Aptos"/>
              </a:rPr>
              <a:t>Apps, agents, retrieval systems, dashboards, voice, vision, and automations.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023360"/>
            <a:ext cx="4937760" cy="987552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3308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B2D"/>
                </a:solidFill>
                <a:latin typeface="Aptos"/>
              </a:rPr>
              <a:t>Run 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07408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0">
                <a:solidFill>
                  <a:srgbClr val="4A5568"/>
                </a:solidFill>
                <a:latin typeface="Aptos"/>
              </a:rPr>
              <a:t>Ollama/vLLM, quantization, GPU constraints, model serving, and latency tradeoffs.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4023360"/>
            <a:ext cx="4937760" cy="987552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413308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B2D"/>
                </a:solidFill>
                <a:latin typeface="Aptos"/>
              </a:rPr>
              <a:t>Govern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4407408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0">
                <a:solidFill>
                  <a:srgbClr val="4A5568"/>
                </a:solidFill>
                <a:latin typeface="Aptos"/>
              </a:rPr>
              <a:t>Data rules, security, bias tests, prompt injection, privacy, and approvals.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2636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87180"/>
                </a:solidFill>
                <a:latin typeface="Aptos"/>
              </a:rPr>
              <a:t>OAKWOOD AI LAB ·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913A"/>
                </a:solidFill>
                <a:latin typeface="Aptos"/>
              </a:rPr>
              <a:t>ROOM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B2D"/>
                </a:solidFill>
                <a:latin typeface="Aptos"/>
              </a:rPr>
              <a:t>A 10-seat lab with six functional zones.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5568"/>
                </a:solidFill>
                <a:latin typeface="Aptos"/>
              </a:rPr>
              <a:t>The room should visibly communicate that students are building, testing, presenting, and governing AI systems.</a:t>
            </a:r>
          </a:p>
        </p:txBody>
      </p:sp>
      <p:pic>
        <p:nvPicPr>
          <p:cNvPr id="5" name="Picture 4" descr="lab-floorpl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658368"/>
            <a:ext cx="342900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71800"/>
            <a:ext cx="5486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700"/>
              </a:spcAft>
              <a:defRPr sz="1300">
                <a:solidFill>
                  <a:srgbClr val="1A1D23"/>
                </a:solidFill>
                <a:latin typeface="Aptos"/>
              </a:defRPr>
            </a:pPr>
            <a:r>
              <a:t>Student build stations</a:t>
            </a:r>
          </a:p>
          <a:p>
            <a:pPr>
              <a:buChar char="•"/>
              <a:spcAft>
                <a:spcPts val="700"/>
              </a:spcAft>
              <a:defRPr sz="1300">
                <a:solidFill>
                  <a:srgbClr val="1A1D23"/>
                </a:solidFill>
                <a:latin typeface="Aptos"/>
              </a:defRPr>
            </a:pPr>
            <a:r>
              <a:t>Local model cluster</a:t>
            </a:r>
          </a:p>
          <a:p>
            <a:pPr>
              <a:buChar char="•"/>
              <a:spcAft>
                <a:spcPts val="700"/>
              </a:spcAft>
              <a:defRPr sz="1300">
                <a:solidFill>
                  <a:srgbClr val="1A1D23"/>
                </a:solidFill>
                <a:latin typeface="Aptos"/>
              </a:defRPr>
            </a:pPr>
            <a:r>
              <a:t>Demo wall</a:t>
            </a:r>
          </a:p>
          <a:p>
            <a:pPr>
              <a:buChar char="•"/>
              <a:spcAft>
                <a:spcPts val="700"/>
              </a:spcAft>
              <a:defRPr sz="1300">
                <a:solidFill>
                  <a:srgbClr val="1A1D23"/>
                </a:solidFill>
                <a:latin typeface="Aptos"/>
              </a:defRPr>
            </a:pPr>
            <a:r>
              <a:t>Studio corner</a:t>
            </a:r>
          </a:p>
          <a:p>
            <a:pPr>
              <a:buChar char="•"/>
              <a:spcAft>
                <a:spcPts val="700"/>
              </a:spcAft>
              <a:defRPr sz="1300">
                <a:solidFill>
                  <a:srgbClr val="1A1D23"/>
                </a:solidFill>
                <a:latin typeface="Aptos"/>
              </a:defRPr>
            </a:pPr>
            <a:r>
              <a:t>Security table</a:t>
            </a:r>
          </a:p>
          <a:p>
            <a:pPr>
              <a:buChar char="•"/>
              <a:spcAft>
                <a:spcPts val="700"/>
              </a:spcAft>
              <a:defRPr sz="1300">
                <a:solidFill>
                  <a:srgbClr val="1A1D23"/>
                </a:solidFill>
                <a:latin typeface="Aptos"/>
              </a:defRPr>
            </a:pPr>
            <a:r>
              <a:t>Edge AI bench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2636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87180"/>
                </a:solidFill>
                <a:latin typeface="Aptos"/>
              </a:rPr>
              <a:t>OAKWOOD AI LAB ·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913A"/>
                </a:solidFill>
                <a:latin typeface="Aptos"/>
              </a:rPr>
              <a:t>HARDWARE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B2D"/>
                </a:solidFill>
                <a:latin typeface="Aptos"/>
              </a:rPr>
              <a:t>Use a mixed stack. One machine type cannot teach the whole field.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5568"/>
                </a:solidFill>
                <a:latin typeface="Aptos"/>
              </a:rPr>
              <a:t>The lab should include everyday student seats, one or more local AI nodes, shared GPU capacity where budget allows, edge AI devices, and serious storage/networking.</a:t>
            </a:r>
          </a:p>
        </p:txBody>
      </p:sp>
      <p:pic>
        <p:nvPicPr>
          <p:cNvPr id="5" name="Picture 4" descr="lab-hardware-w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658368"/>
            <a:ext cx="3429000" cy="1920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2788920"/>
            <a:ext cx="4937760" cy="987552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9864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B2D"/>
                </a:solidFill>
                <a:latin typeface="Aptos"/>
              </a:rPr>
              <a:t>Student Seats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72968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0">
                <a:solidFill>
                  <a:srgbClr val="4A5568"/>
                </a:solidFill>
                <a:latin typeface="Aptos"/>
              </a:rPr>
              <a:t>Framework Desktop AI Max, Mac Studio, or GPU PCs for daily production.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2788920"/>
            <a:ext cx="4937760" cy="987552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289864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B2D"/>
                </a:solidFill>
                <a:latin typeface="Aptos"/>
              </a:rPr>
              <a:t>Local AI Node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3172968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0">
                <a:solidFill>
                  <a:srgbClr val="4A5568"/>
                </a:solidFill>
                <a:latin typeface="Aptos"/>
              </a:rPr>
              <a:t>DGX Spark-class 128GB unified memory systems for local LLM workflows.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4023360"/>
            <a:ext cx="4937760" cy="987552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3308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B2D"/>
                </a:solidFill>
                <a:latin typeface="Aptos"/>
              </a:rPr>
              <a:t>GPU Workstation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07408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0">
                <a:solidFill>
                  <a:srgbClr val="4A5568"/>
                </a:solidFill>
                <a:latin typeface="Aptos"/>
              </a:rPr>
              <a:t>RTX 5090 / RTX PRO class systems for heavier vision, media, and evaluation jobs.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4023360"/>
            <a:ext cx="4937760" cy="987552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413308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B2D"/>
                </a:solidFill>
                <a:latin typeface="Aptos"/>
              </a:rPr>
              <a:t>Edge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4407408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0">
                <a:solidFill>
                  <a:srgbClr val="4A5568"/>
                </a:solidFill>
                <a:latin typeface="Aptos"/>
              </a:rPr>
              <a:t>Jetson-class kits for robotics, camera, sensor, and physical AI demonstrations.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2636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87180"/>
                </a:solidFill>
                <a:latin typeface="Aptos"/>
              </a:rPr>
              <a:t>OAKWOOD AI LAB ·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913A"/>
                </a:solidFill>
                <a:latin typeface="Aptos"/>
              </a:rPr>
              <a:t>BUDGET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B2D"/>
                </a:solidFill>
                <a:latin typeface="Aptos"/>
              </a:rPr>
              <a:t>Four complete configurations, not four shopping lists.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5568"/>
                </a:solidFill>
                <a:latin typeface="Aptos"/>
              </a:rPr>
              <a:t>Each tier includes hardware, lab purpose, curriculum use, and the next deliverable package.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788920"/>
            <a:ext cx="2487168" cy="2697480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C8913A"/>
                </a:solidFill>
                <a:latin typeface="Aptos"/>
              </a:rPr>
              <a:t>$20K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B2D"/>
                </a:solidFill>
                <a:latin typeface="Aptos"/>
              </a:rPr>
              <a:t>Starter Pod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58768"/>
            <a:ext cx="21762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40" b="0">
                <a:solidFill>
                  <a:srgbClr val="4A5568"/>
                </a:solidFill>
                <a:latin typeface="Aptos"/>
              </a:rPr>
              <a:t>Pilot lab: 4-6 capable seats, shared local AI node or edge kits, display, open-source stack.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2788920"/>
            <a:ext cx="2487168" cy="2697480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9718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C8913A"/>
                </a:solidFill>
                <a:latin typeface="Aptos"/>
              </a:rPr>
              <a:t>$50K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4290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B2D"/>
                </a:solidFill>
                <a:latin typeface="Aptos"/>
              </a:rPr>
              <a:t>Production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858768"/>
            <a:ext cx="21762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40" b="0">
                <a:solidFill>
                  <a:srgbClr val="4A5568"/>
                </a:solidFill>
                <a:latin typeface="Aptos"/>
              </a:rPr>
              <a:t>Recommended minimum: 6-10 strong seats, DGX Spark-class node, demo wall, NAS/network, 8-week pilot.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2788920"/>
            <a:ext cx="2487168" cy="2697480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9718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C8913A"/>
                </a:solidFill>
                <a:latin typeface="Aptos"/>
              </a:rPr>
              <a:t>$100K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4290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B2D"/>
                </a:solidFill>
                <a:latin typeface="Aptos"/>
              </a:rPr>
              <a:t>Research 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858768"/>
            <a:ext cx="21762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40" b="0">
                <a:solidFill>
                  <a:srgbClr val="4A5568"/>
                </a:solidFill>
                <a:latin typeface="Aptos"/>
              </a:rPr>
              <a:t>Faculty-ready: mixed premium seats, local AI node, GPU workstation/server, studio/edge bench, employer MOUs.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60" y="2788920"/>
            <a:ext cx="2487168" cy="2697480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29718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C8913A"/>
                </a:solidFill>
                <a:latin typeface="Aptos"/>
              </a:rPr>
              <a:t>$200K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4290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B2D"/>
                </a:solidFill>
                <a:latin typeface="Aptos"/>
              </a:rPr>
              <a:t>Flagship 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858768"/>
            <a:ext cx="21762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40" b="0">
                <a:solidFill>
                  <a:srgbClr val="4A5568"/>
                </a:solidFill>
                <a:latin typeface="Aptos"/>
              </a:rPr>
              <a:t>Signature center: 10 premium seats, multiple local AI nodes, GPU server, full AV/demo environment, naming opportunity.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2636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87180"/>
                </a:solidFill>
                <a:latin typeface="Aptos"/>
              </a:rPr>
              <a:t>OAKWOOD AI LAB ·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913A"/>
                </a:solidFill>
                <a:latin typeface="Aptos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B2D"/>
                </a:solidFill>
                <a:latin typeface="Aptos"/>
              </a:rPr>
              <a:t>The $50K tier is the best first move; $100K is the credibility jump.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5568"/>
                </a:solidFill>
                <a:latin typeface="Aptos"/>
              </a:rPr>
              <a:t>If the available funding is uncertain, start with the $50K production lab because it creates visible student output quickly. If the department has real grant or donor capacity, the $100K research lab is the stronger institutional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07792"/>
            <a:ext cx="8961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$20K proves interest but will feel constrained fast.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$50K can launch a credible student production lab this semester.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$100K supports faculty research, employer engagement, and a stronger grant story.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$200K should be framed as a donor/naming opportunity, not the first ask unless capital is already available.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636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87180"/>
                </a:solidFill>
                <a:latin typeface="Aptos"/>
              </a:rPr>
              <a:t>OAKWOOD AI LAB ·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913A"/>
                </a:solidFill>
                <a:latin typeface="Aptos"/>
              </a:rPr>
              <a:t>CURRICULUM SPINE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B2D"/>
                </a:solidFill>
                <a:latin typeface="Aptos"/>
              </a:rPr>
              <a:t>Eight modules turn the room into outcomes.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5568"/>
                </a:solidFill>
                <a:latin typeface="Aptos"/>
              </a:rPr>
              <a:t>The curriculum should be modular enough for a course, club, summer bridge, certificate, or faculty development track.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788920"/>
            <a:ext cx="3291840" cy="987552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9864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B2D"/>
                </a:solidFill>
                <a:latin typeface="Aptos"/>
              </a:rPr>
              <a:t>AI Fluency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72968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0">
                <a:solidFill>
                  <a:srgbClr val="4A5568"/>
                </a:solidFill>
                <a:latin typeface="Aptos"/>
              </a:rPr>
              <a:t>Prompting, source discipline, academic integrity, multimodal workflows.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788920"/>
            <a:ext cx="3291840" cy="987552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289864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B2D"/>
                </a:solidFill>
                <a:latin typeface="Aptos"/>
              </a:rPr>
              <a:t>Build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3172968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0">
                <a:solidFill>
                  <a:srgbClr val="4A5568"/>
                </a:solidFill>
                <a:latin typeface="Aptos"/>
              </a:rPr>
              <a:t>GitHub, Vercel, databases, auth, and AI-assisted app development.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2788920"/>
            <a:ext cx="3291840" cy="987552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89864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B2D"/>
                </a:solidFill>
                <a:latin typeface="Aptos"/>
              </a:rPr>
              <a:t>Local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172968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0">
                <a:solidFill>
                  <a:srgbClr val="4A5568"/>
                </a:solidFill>
                <a:latin typeface="Aptos"/>
              </a:rPr>
              <a:t>Embeddings, RAG, quantization, local inference, and model selection.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023360"/>
            <a:ext cx="3291840" cy="987552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3308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B2D"/>
                </a:solidFill>
                <a:latin typeface="Aptos"/>
              </a:rPr>
              <a:t>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07408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0">
                <a:solidFill>
                  <a:srgbClr val="4A5568"/>
                </a:solidFill>
                <a:latin typeface="Aptos"/>
              </a:rPr>
              <a:t>Tool calling, workflows, approvals, memory, scheduled automations.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4023360"/>
            <a:ext cx="3291840" cy="987552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413308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B2D"/>
                </a:solidFill>
                <a:latin typeface="Aptos"/>
              </a:rP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407408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0">
                <a:solidFill>
                  <a:srgbClr val="4A5568"/>
                </a:solidFill>
                <a:latin typeface="Aptos"/>
              </a:rPr>
              <a:t>Prompt injection, data leakage, access control, red-team exercises.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4023360"/>
            <a:ext cx="3291840" cy="987552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13308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B2D"/>
                </a:solidFill>
                <a:latin typeface="Aptos"/>
              </a:rPr>
              <a:t>Capstone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407408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0">
                <a:solidFill>
                  <a:srgbClr val="4A5568"/>
                </a:solidFill>
                <a:latin typeface="Aptos"/>
              </a:rPr>
              <a:t>Campus/community problem solved with a public demo and technical brief.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2636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87180"/>
                </a:solidFill>
                <a:latin typeface="Aptos"/>
              </a:rPr>
              <a:t>OAKWOOD AI LAB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913A"/>
                </a:solidFill>
                <a:latin typeface="Aptos"/>
              </a:rP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B2D"/>
                </a:solidFill>
                <a:latin typeface="Aptos"/>
              </a:rPr>
              <a:t>Responsible AI should be practiced, not merely stated.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5568"/>
                </a:solidFill>
                <a:latin typeface="Aptos"/>
              </a:rPr>
              <a:t>A strong lab gives students power and teaches restraint. Governance belongs in the assignments, system design, and demo reviews.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07792"/>
            <a:ext cx="8961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Classify data before using it: public, internal, sensitive, restricted.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Require human approval for external sends, public posting, student records, medical/financial data, and administrative action.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Evaluate every project for hallucination, bias, privacy, prompt injection, and misuse risk.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Teach audit trails and documentation as core engineering habits.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636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87180"/>
                </a:solidFill>
                <a:latin typeface="Aptos"/>
              </a:rPr>
              <a:t>OAKWOOD AI LAB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913A"/>
                </a:solidFill>
                <a:latin typeface="Aptos"/>
              </a:rPr>
              <a:t>90-DAY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B2D"/>
                </a:solidFill>
                <a:latin typeface="Aptos"/>
              </a:rPr>
              <a:t>From funding window to student demos in one semester.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5568"/>
                </a:solidFill>
                <a:latin typeface="Aptos"/>
              </a:rPr>
              <a:t>The plan should move fast enough to preserve momentum but structured enough to survive procurement, IT, and faculty load realities.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017520"/>
            <a:ext cx="2487168" cy="2103120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186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8913A"/>
                </a:solidFill>
                <a:latin typeface="Aptos"/>
              </a:rPr>
              <a:t>Weeks 1-2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21579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40" b="0">
                <a:solidFill>
                  <a:srgbClr val="4A5568"/>
                </a:solidFill>
                <a:latin typeface="Aptos"/>
              </a:rPr>
              <a:t>Confirm budget, room, electrical/HVAC, networking, procurement path, and faculty/staff owner.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3017520"/>
            <a:ext cx="2487168" cy="2103120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32186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8913A"/>
                </a:solidFill>
                <a:latin typeface="Aptos"/>
              </a:rPr>
              <a:t>Weeks 3-6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657600"/>
            <a:ext cx="21579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40" b="0">
                <a:solidFill>
                  <a:srgbClr val="4A5568"/>
                </a:solidFill>
                <a:latin typeface="Aptos"/>
              </a:rPr>
              <a:t>Finalize SKUs, order hardware, configure network/storage, install local model stack, prepare pilot curriculum.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3017520"/>
            <a:ext cx="2487168" cy="2103120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2186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8913A"/>
                </a:solidFill>
                <a:latin typeface="Aptos"/>
              </a:rPr>
              <a:t>Weeks 7-10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657600"/>
            <a:ext cx="21579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40" b="0">
                <a:solidFill>
                  <a:srgbClr val="4A5568"/>
                </a:solidFill>
                <a:latin typeface="Aptos"/>
              </a:rPr>
              <a:t>Run first student cohort through app build, local model demo, and governance/evaluation exercise.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3017520"/>
            <a:ext cx="2487168" cy="2103120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32186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8913A"/>
                </a:solidFill>
                <a:latin typeface="Aptos"/>
              </a:rPr>
              <a:t>Weeks 11-12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3657600"/>
            <a:ext cx="21579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40" b="0">
                <a:solidFill>
                  <a:srgbClr val="4A5568"/>
                </a:solidFill>
                <a:latin typeface="Aptos"/>
              </a:rPr>
              <a:t>Host demo day, capture student work, brief administrators/donors, and define follow-on funding ask.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2636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87180"/>
                </a:solidFill>
                <a:latin typeface="Aptos"/>
              </a:rPr>
              <a:t>OAKWOOD AI LAB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913A"/>
                </a:solidFill>
                <a:latin typeface="Aptos"/>
              </a:rPr>
              <a:t>RISK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B2D"/>
                </a:solidFill>
                <a:latin typeface="Aptos"/>
              </a:rPr>
              <a:t>The lab succeeds if sustainment is planned on day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5568"/>
                </a:solidFill>
                <a:latin typeface="Aptos"/>
              </a:rPr>
              <a:t>Hardware purchase is the easy part. Labs fail when ownership, maintenance, curriculum integration, and procurement assumptions are vague.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07792"/>
            <a:ext cx="8961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Assign at least 0.2 FTE lab ownership in writing.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Budget annual sustainment: software, support, peripherals, storage, and light refresh.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Recruit 2-3 student lab assistants from the first cohort.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Quote final SKUs before promising prices; high-memory hardware pricing is volatile.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1A1D23"/>
                </a:solidFill>
                <a:latin typeface="Aptos"/>
              </a:defRPr>
            </a:pPr>
            <a:r>
              <a:t>Walk the room with IT before finalizing network, power, cooling, and security assumptions.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636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87180"/>
                </a:solidFill>
                <a:latin typeface="Aptos"/>
              </a:rPr>
              <a:t>OAKWOOD AI LAB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913A"/>
                </a:solidFill>
                <a:latin typeface="Aptos"/>
              </a:rPr>
              <a:t>NEXT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B2D"/>
                </a:solidFill>
                <a:latin typeface="Aptos"/>
              </a:rPr>
              <a:t>Ask one question, then ship the procurement memo.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5568"/>
                </a:solidFill>
                <a:latin typeface="Aptos"/>
              </a:rPr>
              <a:t>The meeting should produce one concrete answer: which funding window are you working with, and when must the money be committed?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788920"/>
            <a:ext cx="4937760" cy="987552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9864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B2D"/>
                </a:solidFill>
                <a:latin typeface="Aptos"/>
              </a:rPr>
              <a:t>Package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72968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0">
                <a:solidFill>
                  <a:srgbClr val="4A5568"/>
                </a:solidFill>
                <a:latin typeface="Aptos"/>
              </a:rPr>
              <a:t>$20K-$50K: 3-page procurement memo, room layout, quote list, 8-week pilot, lab owner role.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2788920"/>
            <a:ext cx="4937760" cy="987552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289864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B2D"/>
                </a:solidFill>
                <a:latin typeface="Aptos"/>
              </a:rPr>
              <a:t>Package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3172968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0">
                <a:solidFill>
                  <a:srgbClr val="4A5568"/>
                </a:solidFill>
                <a:latin typeface="Aptos"/>
              </a:rPr>
              <a:t>$100K: Package A plus faculty research framing, employer MOU template, draft grant narrative.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023360"/>
            <a:ext cx="4937760" cy="987552"/>
          </a:xfrm>
          <a:prstGeom prst="rect">
            <a:avLst/>
          </a:prstGeom>
          <a:solidFill>
            <a:srgbClr val="FFFDF7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3308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B2D"/>
                </a:solidFill>
                <a:latin typeface="Aptos"/>
              </a:rPr>
              <a:t>Package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07408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0">
                <a:solidFill>
                  <a:srgbClr val="4A5568"/>
                </a:solidFill>
                <a:latin typeface="Aptos"/>
              </a:rPr>
              <a:t>$200K: Package B plus donor one-pager, naming framework, partner recruitment letter.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2636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87180"/>
                </a:solidFill>
                <a:latin typeface="Aptos"/>
              </a:rPr>
              <a:t>OAKWOOD AI LAB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b-demo-d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704320" cy="6583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498079" cy="65836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913A"/>
                </a:solidFill>
                <a:latin typeface="Aptos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5F3EF"/>
                </a:solidFill>
                <a:latin typeface="Aptos"/>
              </a:rPr>
              <a:t>Oakwood has the moment. The lab makes it actionable.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0280"/>
            <a:ext cx="6080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5F3EF"/>
                </a:solidFill>
                <a:latin typeface="Aptos"/>
              </a:rPr>
              <a:t>Students who learn this now graduate with a different ceiling. The goal is not to chase AI hype. The goal is to produce capable, ethical builders who can serve their community and compete in the market.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212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5F3EF"/>
                </a:solidFill>
                <a:latin typeface="Aptos"/>
              </a:rPr>
              <a:t>Prepared by Island Development Crew |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636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F5F3EF"/>
                </a:solidFill>
                <a:latin typeface="Aptos"/>
              </a:rPr>
              <a:t>OAKWOOD AI LAB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913A"/>
                </a:solidFill>
                <a:latin typeface="Apto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B2D"/>
                </a:solidFill>
                <a:latin typeface="Aptos"/>
              </a:rPr>
              <a:t>Source and quality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700"/>
              </a:spcAft>
              <a:defRPr sz="1300">
                <a:solidFill>
                  <a:srgbClr val="1A1D23"/>
                </a:solidFill>
                <a:latin typeface="Aptos"/>
              </a:defRPr>
            </a:pPr>
            <a:r>
              <a:t>Internal context: May 13 Oakwood / Ms. Smith AI Lab note, Jon priority reset map, May 18 working draft, and prior ai-lab-2026 deck.</a:t>
            </a:r>
          </a:p>
          <a:p>
            <a:pPr>
              <a:buChar char="•"/>
              <a:spcAft>
                <a:spcPts val="700"/>
              </a:spcAft>
              <a:defRPr sz="1300">
                <a:solidFill>
                  <a:srgbClr val="1A1D23"/>
                </a:solidFill>
                <a:latin typeface="Aptos"/>
              </a:defRPr>
            </a:pPr>
            <a:r>
              <a:t>Kimi source package contributed the executive structure, investment tiers, roadmap, and strategic styling direction.</a:t>
            </a:r>
          </a:p>
          <a:p>
            <a:pPr>
              <a:buChar char="•"/>
              <a:spcAft>
                <a:spcPts val="700"/>
              </a:spcAft>
              <a:defRPr sz="1300">
                <a:solidFill>
                  <a:srgbClr val="1A1D23"/>
                </a:solidFill>
                <a:latin typeface="Aptos"/>
              </a:defRPr>
            </a:pPr>
            <a:r>
              <a:t>Claims that could not be reliably verified from available public sources were softened or removed, including precise grant portal language and exact volatile pricing claims.</a:t>
            </a:r>
          </a:p>
          <a:p>
            <a:pPr>
              <a:buChar char="•"/>
              <a:spcAft>
                <a:spcPts val="700"/>
              </a:spcAft>
              <a:defRPr sz="1300">
                <a:solidFill>
                  <a:srgbClr val="1A1D23"/>
                </a:solidFill>
                <a:latin typeface="Aptos"/>
              </a:defRPr>
            </a:pPr>
            <a:r>
              <a:t>Official hardware reference used in framing: NVIDIA DGX Spark public page confirms GB10 Grace Blackwell, 128GB coherent unified memory, up to 1 petaFLOP FP4, local models up to 200B parameters, and two-node configurations up to 405B parameters.</a:t>
            </a:r>
          </a:p>
          <a:p>
            <a:pPr>
              <a:buChar char="•"/>
              <a:spcAft>
                <a:spcPts val="700"/>
              </a:spcAft>
              <a:defRPr sz="1300">
                <a:solidFill>
                  <a:srgbClr val="1A1D23"/>
                </a:solidFill>
                <a:latin typeface="Aptos"/>
              </a:defRPr>
            </a:pPr>
            <a:r>
              <a:t>All final hardware budgets are planning estimates and require vendor quotes, room measurements, IT review, and procurement approval.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636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87180"/>
                </a:solidFill>
                <a:latin typeface="Aptos"/>
              </a:rPr>
              <a:t>OAKWOOD AI LAB ·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