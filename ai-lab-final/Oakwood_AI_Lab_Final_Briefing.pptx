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5314"/>
            <a:ext cx="14630400" cy="836022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8412480" cy="8229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731520"/>
            <a:ext cx="457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00" b="1">
                <a:solidFill>
                  <a:srgbClr val="C8913A"/>
                </a:solidFill>
                <a:latin typeface="Aptos"/>
              </a:defRPr>
            </a:pPr>
            <a:r>
              <a:t>STRATEGIC INFRASTRUCTURE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920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85000"/>
              </a:lnSpc>
              <a:defRPr sz="5200" b="1">
                <a:solidFill>
                  <a:srgbClr val="FFFFFF"/>
                </a:solidFill>
                <a:latin typeface="Georgia"/>
              </a:defRPr>
            </a:pPr>
            <a:r>
              <a:t>OAKWOOD</a:t>
            </a:r>
          </a:p>
          <a:p>
            <a:pPr>
              <a:lnSpc>
                <a:spcPct val="85000"/>
              </a:lnSpc>
              <a:defRPr sz="5200" b="1">
                <a:solidFill>
                  <a:srgbClr val="FFFFFF"/>
                </a:solidFill>
                <a:latin typeface="Georgia"/>
              </a:defRPr>
            </a:pPr>
            <a:r>
              <a:t>AI INNOVATION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749039"/>
            <a:ext cx="676656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000" b="0">
                <a:solidFill>
                  <a:srgbClr val="F5F3EF"/>
                </a:solidFill>
                <a:latin typeface="Aptos"/>
              </a:defRPr>
            </a:pPr>
            <a:r>
              <a:t>A hardware, curriculum, governance, and launch proposal for Mathematics &amp; Computer Science.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55080"/>
            <a:ext cx="6858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C8913A"/>
                </a:solidFill>
                <a:latin typeface="Aptos"/>
              </a:defRPr>
            </a:pPr>
            <a:r>
              <a:t>Prepared for Dr. Shushannah Smith · Oakwood University ·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667085"/>
                </a:solidFill>
                <a:latin typeface="Aptos"/>
              </a:defRPr>
            </a:pPr>
            <a:r>
              <a:t>PROOF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0F1B2D"/>
                </a:solidFill>
                <a:latin typeface="Georgia"/>
              </a:defRPr>
            </a:pPr>
            <a:r>
              <a:t>Jon has already shown the motion: idea → deployed campus product.</a:t>
            </a:r>
          </a:p>
        </p:txBody>
      </p:sp>
      <p:pic>
        <p:nvPicPr>
          <p:cNvPr id="6" name="Picture 5" descr="stu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960120"/>
            <a:ext cx="5257800" cy="6126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778240" y="960120"/>
            <a:ext cx="5257800" cy="612648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722376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500" b="1">
                <a:solidFill>
                  <a:srgbClr val="0F1B2D"/>
                </a:solidFill>
                <a:latin typeface="Georgia"/>
              </a:defRPr>
            </a:pPr>
            <a:r>
              <a:t>OU Campus Companion becomes the bridge from “AI talk” to student capability.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603500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760" y="2514600"/>
            <a:ext cx="677164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1A1D23"/>
                </a:solidFill>
                <a:latin typeface="Aptos"/>
              </a:defRPr>
            </a:pPr>
            <a:r>
              <a:t>Student concept discovered during Alumni Weekend; built by 12-person CS Club team led by Ramy Campusano.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936875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760" y="2847975"/>
            <a:ext cx="677164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1A1D23"/>
                </a:solidFill>
                <a:latin typeface="Aptos"/>
              </a:defRPr>
            </a:pPr>
            <a:r>
              <a:t>Enhanced version: 51 locations, department directory, accessibility, responsive UX, comparison showcase.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70250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60" y="3181350"/>
            <a:ext cx="677164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1A1D23"/>
                </a:solidFill>
                <a:latin typeface="Aptos"/>
              </a:defRPr>
            </a:pPr>
            <a:r>
              <a:t>Best positioning: not replacement — mentorship acceleration for students already taking initiative.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623560"/>
            <a:ext cx="7132320" cy="105156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623560"/>
            <a:ext cx="713232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0440" y="5826760"/>
            <a:ext cx="672592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Live proof links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440" y="6233160"/>
            <a:ext cx="6725920" cy="31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ou-campus-companion.vercel.app · ou-campus-companion-murex.vercel.app · ou-campus-showcase.vercel.app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C8913A"/>
                </a:solidFill>
                <a:latin typeface="Aptos"/>
              </a:defRPr>
            </a:pPr>
            <a:r>
              <a:t>STRATEGIC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FFFFFF"/>
                </a:solidFill>
                <a:latin typeface="Georgia"/>
              </a:defRPr>
            </a:pPr>
            <a:r>
              <a:t>A real AI lab teaches four motions, not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828800"/>
            <a:ext cx="2971800" cy="43434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6432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01 · USE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432" y="2438400"/>
            <a:ext cx="2565400" cy="3606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Prompt discipline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RAG + retrieval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Agent workflows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Deployment habits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9392" y="1828800"/>
            <a:ext cx="2971800" cy="43434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9392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2592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02 · BUILD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2592" y="2438400"/>
            <a:ext cx="2565400" cy="3606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Fine-tuning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Evaluation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Dataset curation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MLOps basics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45552" y="1828800"/>
            <a:ext cx="2971800" cy="43434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45552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8752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03 · RUN 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8752" y="2438400"/>
            <a:ext cx="2565400" cy="3606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Inference servers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Latency + throughput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Data sovereignty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Cost control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11712" y="1828800"/>
            <a:ext cx="2971800" cy="43434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11712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14912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04 · GOVERN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4912" y="2438400"/>
            <a:ext cx="2565400" cy="3606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Privacy + consent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Bias audit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Human-in-loop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Adventist ethics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812280"/>
            <a:ext cx="126187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10000"/>
              </a:lnSpc>
              <a:defRPr sz="1800" b="1">
                <a:solidFill>
                  <a:srgbClr val="C8913A"/>
                </a:solidFill>
                <a:latin typeface="Aptos"/>
              </a:defRPr>
            </a:pPr>
            <a:r>
              <a:t>Goal: students graduate with portfolio work, infrastructure intuition, and a responsible-AI voice — not just AI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667085"/>
                </a:solidFill>
                <a:latin typeface="Aptos"/>
              </a:defRPr>
            </a:pPr>
            <a:r>
              <a:t>10-SEAT LAB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0F1B2D"/>
                </a:solidFill>
                <a:latin typeface="Georgia"/>
              </a:defRPr>
            </a:pPr>
            <a:r>
              <a:t>Six zones that make AI production visible.</a:t>
            </a: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172200" cy="5120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417320"/>
            <a:ext cx="3154680" cy="1225296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417320"/>
            <a:ext cx="31546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18400" y="1620520"/>
            <a:ext cx="27482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Student build stations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8400" y="2026920"/>
            <a:ext cx="2748280" cy="488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Coding, agents, RAG, prototypes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44200" y="1417320"/>
            <a:ext cx="3154680" cy="1225296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44200" y="1417320"/>
            <a:ext cx="31546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47400" y="1620520"/>
            <a:ext cx="27482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Local models cluster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7400" y="2026920"/>
            <a:ext cx="2748280" cy="488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DGX Spark / high-memory local inference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990088"/>
            <a:ext cx="3154680" cy="1225296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2990088"/>
            <a:ext cx="31546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8400" y="3193288"/>
            <a:ext cx="27482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Demo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8400" y="3599688"/>
            <a:ext cx="2748280" cy="488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Portfolio reviews + employer demo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44200" y="2990088"/>
            <a:ext cx="3154680" cy="1225296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44200" y="2990088"/>
            <a:ext cx="31546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47400" y="3193288"/>
            <a:ext cx="27482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Studio corner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7400" y="3599688"/>
            <a:ext cx="2748280" cy="488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Image, video, 3D, and media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562856"/>
            <a:ext cx="3154680" cy="1225296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562856"/>
            <a:ext cx="31546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8400" y="4766056"/>
            <a:ext cx="27482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Security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8400" y="5172456"/>
            <a:ext cx="2748280" cy="488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AI security and governance practice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744200" y="4562856"/>
            <a:ext cx="3154680" cy="1225296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744200" y="4562856"/>
            <a:ext cx="31546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7400" y="4766056"/>
            <a:ext cx="27482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Edge AI station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7400" y="5172456"/>
            <a:ext cx="2748280" cy="488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Jetson / robotics / IoT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812280"/>
            <a:ext cx="1261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10000"/>
              </a:lnSpc>
              <a:defRPr sz="1800" b="1">
                <a:solidFill>
                  <a:srgbClr val="0F1B2D"/>
                </a:solidFill>
                <a:latin typeface="Aptos"/>
              </a:defRPr>
            </a:pPr>
            <a:r>
              <a:t>The room should signal “production studio,” not “computer lab.”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667085"/>
                </a:solidFill>
                <a:latin typeface="Aptos"/>
              </a:defRPr>
            </a:pPr>
            <a:r>
              <a:t>HARDWARE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0F1B2D"/>
                </a:solidFill>
                <a:latin typeface="Georgia"/>
              </a:defRPr>
            </a:pPr>
            <a:r>
              <a:t>Layer the stack from student seat to governance.</a:t>
            </a:r>
          </a:p>
        </p:txBody>
      </p:sp>
      <p:pic>
        <p:nvPicPr>
          <p:cNvPr id="6" name="Picture 5" descr="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188720"/>
            <a:ext cx="4297680" cy="5120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1417320"/>
            <a:ext cx="73152" cy="438912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28346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1">
                <a:solidFill>
                  <a:srgbClr val="0F1B2D"/>
                </a:solidFill>
                <a:latin typeface="Aptos"/>
              </a:defRPr>
            </a:pPr>
            <a:r>
              <a:t>L1 Student seats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417320"/>
            <a:ext cx="5394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0">
                <a:solidFill>
                  <a:srgbClr val="1A1D23"/>
                </a:solidFill>
                <a:latin typeface="Aptos"/>
              </a:defRPr>
            </a:pPr>
            <a:r>
              <a:t>Framework Desktop AI Max+ / Mac Studio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94560"/>
            <a:ext cx="73152" cy="438912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94560"/>
            <a:ext cx="28346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1">
                <a:solidFill>
                  <a:srgbClr val="0F1B2D"/>
                </a:solidFill>
                <a:latin typeface="Aptos"/>
              </a:defRPr>
            </a:pPr>
            <a:r>
              <a:t>L2 Local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194560"/>
            <a:ext cx="5394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0">
                <a:solidFill>
                  <a:srgbClr val="1A1D23"/>
                </a:solidFill>
                <a:latin typeface="Aptos"/>
              </a:defRPr>
            </a:pPr>
            <a:r>
              <a:t>DGX Spark-class local model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73152" cy="438912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71800"/>
            <a:ext cx="28346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1">
                <a:solidFill>
                  <a:srgbClr val="0F1B2D"/>
                </a:solidFill>
                <a:latin typeface="Aptos"/>
              </a:defRPr>
            </a:pPr>
            <a:r>
              <a:t>L3 Research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971800"/>
            <a:ext cx="5394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0">
                <a:solidFill>
                  <a:srgbClr val="1A1D23"/>
                </a:solidFill>
                <a:latin typeface="Aptos"/>
              </a:defRPr>
            </a:pPr>
            <a:r>
              <a:t>RTX PRO workstation for heavier workloads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49040"/>
            <a:ext cx="73152" cy="438912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40"/>
            <a:ext cx="28346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1">
                <a:solidFill>
                  <a:srgbClr val="0F1B2D"/>
                </a:solidFill>
                <a:latin typeface="Aptos"/>
              </a:defRPr>
            </a:pPr>
            <a:r>
              <a:t>L4 Edge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749040"/>
            <a:ext cx="5394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0">
                <a:solidFill>
                  <a:srgbClr val="1A1D23"/>
                </a:solidFill>
                <a:latin typeface="Aptos"/>
              </a:defRPr>
            </a:pPr>
            <a:r>
              <a:t>Jetson Orin / AGX Thor robotics + IoT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526280"/>
            <a:ext cx="73152" cy="438912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526280"/>
            <a:ext cx="28346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1">
                <a:solidFill>
                  <a:srgbClr val="0F1B2D"/>
                </a:solidFill>
                <a:latin typeface="Aptos"/>
              </a:defRPr>
            </a:pPr>
            <a:r>
              <a:t>L5 Storage +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526280"/>
            <a:ext cx="5394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0">
                <a:solidFill>
                  <a:srgbClr val="1A1D23"/>
                </a:solidFill>
                <a:latin typeface="Aptos"/>
              </a:defRPr>
            </a:pPr>
            <a:r>
              <a:t>10GbE, NAS, model cache, backup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303520"/>
            <a:ext cx="73152" cy="438912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303520"/>
            <a:ext cx="28346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500" b="1">
                <a:solidFill>
                  <a:srgbClr val="0F1B2D"/>
                </a:solidFill>
                <a:latin typeface="Aptos"/>
              </a:defRPr>
            </a:pPr>
            <a:r>
              <a:t>L6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303520"/>
            <a:ext cx="539496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0">
                <a:solidFill>
                  <a:srgbClr val="1A1D23"/>
                </a:solidFill>
                <a:latin typeface="Aptos"/>
              </a:defRPr>
            </a:pPr>
            <a:r>
              <a:t>Runbooks, access, audits, data policy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667085"/>
                </a:solidFill>
                <a:latin typeface="Aptos"/>
              </a:defRPr>
            </a:pPr>
            <a:r>
              <a:t>INVESTMENT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0F1B2D"/>
                </a:solidFill>
                <a:latin typeface="Georgia"/>
              </a:defRPr>
            </a:pPr>
            <a:r>
              <a:t>Four complete budget paths, not one vague wishlist.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3063240" cy="452628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06324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711960"/>
            <a:ext cx="265684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118360"/>
            <a:ext cx="2656840" cy="3789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4 seats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Edge AI kit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Shared display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Open-source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783080"/>
            <a:ext cx="2560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3000" b="1">
                <a:solidFill>
                  <a:srgbClr val="C8913A"/>
                </a:solidFill>
                <a:latin typeface="Aptos"/>
              </a:defRPr>
            </a:pPr>
            <a:r>
              <a:t>$20K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6263640"/>
            <a:ext cx="27432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200" b="1">
                <a:solidFill>
                  <a:srgbClr val="C8913A"/>
                </a:solidFill>
                <a:latin typeface="Aptos"/>
              </a:defRPr>
            </a:pPr>
            <a:r>
              <a:t>Best for: Seed / pilot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508760"/>
            <a:ext cx="3063240" cy="452628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508760"/>
            <a:ext cx="306324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8000" y="1711960"/>
            <a:ext cx="265684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0" y="2118360"/>
            <a:ext cx="2656840" cy="3789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6 seats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Local AI flagship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Demo display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Network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1783080"/>
            <a:ext cx="2560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3000" b="1">
                <a:solidFill>
                  <a:srgbClr val="C8913A"/>
                </a:solidFill>
                <a:latin typeface="Aptos"/>
              </a:defRPr>
            </a:pPr>
            <a:r>
              <a:t>$50K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2" y="6263640"/>
            <a:ext cx="27432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200" b="1">
                <a:solidFill>
                  <a:srgbClr val="C8913A"/>
                </a:solidFill>
                <a:latin typeface="Aptos"/>
              </a:defRPr>
            </a:pPr>
            <a:r>
              <a:t>Best for: Deadline grants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508760"/>
            <a:ext cx="3063240" cy="452628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43800" y="1508760"/>
            <a:ext cx="306324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0" y="1711960"/>
            <a:ext cx="265684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0" y="2118360"/>
            <a:ext cx="2656840" cy="3789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8 seats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DGX + RTX PRO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Edge suite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Faculty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8392" y="1783080"/>
            <a:ext cx="2560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3000" b="1">
                <a:solidFill>
                  <a:srgbClr val="C8913A"/>
                </a:solidFill>
                <a:latin typeface="Aptos"/>
              </a:defRPr>
            </a:pPr>
            <a:r>
              <a:t>$100K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8392" y="6263640"/>
            <a:ext cx="27432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200" b="1">
                <a:solidFill>
                  <a:srgbClr val="C8913A"/>
                </a:solidFill>
                <a:latin typeface="Aptos"/>
              </a:defRPr>
            </a:pPr>
            <a:r>
              <a:t>Best for: Federal/foundation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0" y="1508760"/>
            <a:ext cx="3063240" cy="452628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72800" y="1508760"/>
            <a:ext cx="306324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6000" y="1711960"/>
            <a:ext cx="265684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FFFFFF"/>
                </a:solidFill>
                <a:latin typeface="Aptos"/>
              </a:defRPr>
            </a:pPr>
            <a:r>
              <a:t>Flagship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0" y="2118360"/>
            <a:ext cx="2656840" cy="3789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D7D2C7"/>
                </a:solidFill>
                <a:latin typeface="Aptos"/>
              </a:defRPr>
            </a:pPr>
            <a:r>
              <a:t>10 premium seats</a:t>
            </a:r>
          </a:p>
          <a:p>
            <a:pPr>
              <a:lnSpc>
                <a:spcPct val="110000"/>
              </a:lnSpc>
              <a:defRPr sz="1150" b="0">
                <a:solidFill>
                  <a:srgbClr val="D7D2C7"/>
                </a:solidFill>
                <a:latin typeface="Aptos"/>
              </a:defRPr>
            </a:pPr>
            <a:r>
              <a:t>2 local AI systems</a:t>
            </a:r>
          </a:p>
          <a:p>
            <a:pPr>
              <a:lnSpc>
                <a:spcPct val="110000"/>
              </a:lnSpc>
              <a:defRPr sz="1150" b="0">
                <a:solidFill>
                  <a:srgbClr val="D7D2C7"/>
                </a:solidFill>
                <a:latin typeface="Aptos"/>
              </a:defRPr>
            </a:pPr>
            <a:r>
              <a:t>2 GPU stations</a:t>
            </a:r>
          </a:p>
          <a:p>
            <a:pPr>
              <a:lnSpc>
                <a:spcPct val="110000"/>
              </a:lnSpc>
              <a:defRPr sz="1150" b="0">
                <a:solidFill>
                  <a:srgbClr val="D7D2C7"/>
                </a:solidFill>
                <a:latin typeface="Aptos"/>
              </a:defRPr>
            </a:pPr>
            <a:r>
              <a:t>AV wall +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37392" y="1783080"/>
            <a:ext cx="2560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3000" b="1">
                <a:solidFill>
                  <a:srgbClr val="C8913A"/>
                </a:solidFill>
                <a:latin typeface="Aptos"/>
              </a:defRPr>
            </a:pPr>
            <a:r>
              <a:t>$200K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37392" y="6263640"/>
            <a:ext cx="27432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200" b="1">
                <a:solidFill>
                  <a:srgbClr val="C8913A"/>
                </a:solidFill>
                <a:latin typeface="Aptos"/>
              </a:defRPr>
            </a:pPr>
            <a:r>
              <a:t>Best for: Donor/unrestricted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995160"/>
            <a:ext cx="1252728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10000"/>
              </a:lnSpc>
              <a:defRPr sz="1800" b="1">
                <a:solidFill>
                  <a:srgbClr val="0F1B2D"/>
                </a:solidFill>
                <a:latin typeface="Aptos"/>
              </a:defRPr>
            </a:pPr>
            <a:r>
              <a:t>Key question for Dr. Smith: Which funding window exists, and when must it be committed?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C8913A"/>
                </a:solidFill>
                <a:latin typeface="Aptos"/>
              </a:defRPr>
            </a:pPr>
            <a:r>
              <a:t>CURRICULUM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FFFFFF"/>
                </a:solidFill>
                <a:latin typeface="Georgia"/>
              </a:defRPr>
            </a:pPr>
            <a:r>
              <a:t>Eight weeks to first student demos.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2971800" cy="310896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0440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Weeks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0440" y="2438400"/>
            <a:ext cx="2565400" cy="237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AI foundations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Prompt discipline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Safe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828800"/>
            <a:ext cx="2971800" cy="310896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9440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Weeks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9440" y="2438400"/>
            <a:ext cx="2565400" cy="237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RAG systems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Campus data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828800"/>
            <a:ext cx="2971800" cy="310896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8440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Weeks 5–6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8440" y="2438400"/>
            <a:ext cx="2565400" cy="237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Local inference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GPU / edge AI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Security scenarios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064240" y="1828800"/>
            <a:ext cx="2971800" cy="310896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64240" y="1828800"/>
            <a:ext cx="2971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67440" y="2032000"/>
            <a:ext cx="2565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Weeks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67440" y="2438400"/>
            <a:ext cx="2565400" cy="237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Capstone sprint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Governance review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Demo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06440"/>
            <a:ext cx="1261872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10000"/>
              </a:lnSpc>
              <a:defRPr sz="2100" b="1">
                <a:solidFill>
                  <a:srgbClr val="FFFFFF"/>
                </a:solidFill>
                <a:latin typeface="Aptos"/>
              </a:defRPr>
            </a:pPr>
            <a:r>
              <a:t>Cross-department reach: Applied Math, Information Systems, Business Analytics, Biology/Chemistry data, Theology research, Media Production.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667085"/>
                </a:solidFill>
                <a:latin typeface="Aptos"/>
              </a:defRPr>
            </a:pPr>
            <a:r>
              <a:t>GOVERNANCE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0F1B2D"/>
                </a:solidFill>
                <a:latin typeface="Georgia"/>
              </a:defRPr>
            </a:pPr>
            <a:r>
              <a:t>Responsible AI as an Oakwood differentiator.</a:t>
            </a:r>
          </a:p>
        </p:txBody>
      </p:sp>
      <p:pic>
        <p:nvPicPr>
          <p:cNvPr id="6" name="Picture 5" descr="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5314"/>
            <a:ext cx="14630400" cy="836022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00200"/>
            <a:ext cx="4069080" cy="16002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00200"/>
            <a:ext cx="40690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0440" y="1803400"/>
            <a:ext cx="36626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Data dignity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440" y="2209800"/>
            <a:ext cx="3662680" cy="863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Consent, privacy, deletion, and student-data boundaries.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600200"/>
            <a:ext cx="4069080" cy="16002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0" y="1600200"/>
            <a:ext cx="40690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6720" y="1803400"/>
            <a:ext cx="36626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Human-in-loop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6720" y="2209800"/>
            <a:ext cx="3662680" cy="863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No critical system acts without accountable 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9800" y="1600200"/>
            <a:ext cx="4069080" cy="16002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29800" y="1600200"/>
            <a:ext cx="40690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33000" y="1803400"/>
            <a:ext cx="36626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Sabbath 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33000" y="2209800"/>
            <a:ext cx="3662680" cy="863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No required labs or deadlines Friday sunset → Saturday sunset.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749040"/>
            <a:ext cx="4069080" cy="16002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49040"/>
            <a:ext cx="40690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440" y="3952240"/>
            <a:ext cx="36626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Community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440" y="4358640"/>
            <a:ext cx="3662680" cy="863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AI should serve Huntsville/Oakwood needs, not just chase hype.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3749040"/>
            <a:ext cx="4069080" cy="16002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0" y="3749040"/>
            <a:ext cx="40690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06720" y="3952240"/>
            <a:ext cx="36626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Audit habits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6720" y="4358640"/>
            <a:ext cx="3662680" cy="863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Model cards, source tracking, evaluation, and usage logs.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800" y="3749040"/>
            <a:ext cx="4069080" cy="16002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29800" y="3749040"/>
            <a:ext cx="406908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33000" y="3952240"/>
            <a:ext cx="366268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Security posture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33000" y="4358640"/>
            <a:ext cx="3662680" cy="863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Network boundaries, safe red-team exercises, access rules.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667085"/>
                </a:solidFill>
                <a:latin typeface="Aptos"/>
              </a:defRPr>
            </a:pPr>
            <a:r>
              <a:t>90-DAY LAUNCH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0F1B2D"/>
                </a:solidFill>
                <a:latin typeface="Georgia"/>
              </a:defRPr>
            </a:pPr>
            <a:r>
              <a:t>Procure, build, train,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4114800" cy="41148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4114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6160" y="2032000"/>
            <a:ext cx="3708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Weeks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160" y="2438400"/>
            <a:ext cx="3708400" cy="337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Confirm funding window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Room walk with IT/facilities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Electrical/HVAC/network review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Written quotes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828800"/>
            <a:ext cx="4114800" cy="41148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1828800"/>
            <a:ext cx="4114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98160" y="2032000"/>
            <a:ext cx="3708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Weeks 3–6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8160" y="2438400"/>
            <a:ext cx="3708400" cy="337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Hardware delivery + setup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Lab-owner runbooks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Student assistants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Curriculum dry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1828800"/>
            <a:ext cx="4114800" cy="41148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66960" y="1828800"/>
            <a:ext cx="411480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70160" y="2032000"/>
            <a:ext cx="370840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Weeks 7–12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70160" y="2438400"/>
            <a:ext cx="3708400" cy="3378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Pilot cohort begins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First portfolio projects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Employer/faculty demo day</a:t>
            </a:r>
          </a:p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Follow-on grant narrative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537960"/>
            <a:ext cx="12801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10000"/>
              </a:lnSpc>
              <a:defRPr sz="1800" b="1">
                <a:solidFill>
                  <a:srgbClr val="0F1B2D"/>
                </a:solidFill>
                <a:latin typeface="Aptos"/>
              </a:defRPr>
            </a:pPr>
            <a:r>
              <a:t>Sustainment: 10% annual capex line + 0.2 FTE lab owner + 2–3 student lab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20624"/>
            <a:ext cx="36576" cy="237744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4114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000" b="1">
                <a:solidFill>
                  <a:srgbClr val="667085"/>
                </a:solidFill>
                <a:latin typeface="Aptos"/>
              </a:defRPr>
            </a:pPr>
            <a:r>
              <a:t>NEXT DELIVERABLE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96012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2700" b="1">
                <a:solidFill>
                  <a:srgbClr val="0F1B2D"/>
                </a:solidFill>
                <a:latin typeface="Georgia"/>
              </a:defRPr>
            </a:pPr>
            <a:r>
              <a:t>Convert interest into procurement-ready action.</a:t>
            </a:r>
          </a:p>
        </p:txBody>
      </p:sp>
      <p:pic>
        <p:nvPicPr>
          <p:cNvPr id="6" name="Picture 5" descr="dg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188720"/>
            <a:ext cx="480060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68680" y="1689100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6480" y="1600200"/>
            <a:ext cx="7320279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600" b="0">
                <a:solidFill>
                  <a:srgbClr val="1A1D23"/>
                </a:solidFill>
                <a:latin typeface="Aptos"/>
              </a:defRPr>
            </a:pPr>
            <a:r>
              <a:t>3-page procurement memo for the selected budget window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044700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480" y="1955800"/>
            <a:ext cx="7320279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600" b="0">
                <a:solidFill>
                  <a:srgbClr val="1A1D23"/>
                </a:solidFill>
                <a:latin typeface="Aptos"/>
              </a:defRPr>
            </a:pPr>
            <a:r>
              <a:t>Room layout matched against Oakwood’s actual space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400300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480" y="2311400"/>
            <a:ext cx="7320279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600" b="0">
                <a:solidFill>
                  <a:srgbClr val="1A1D23"/>
                </a:solidFill>
                <a:latin typeface="Aptos"/>
              </a:defRPr>
            </a:pPr>
            <a:r>
              <a:t>Vendor quote list with expiration dates and education pricing paths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755900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480" y="2667000"/>
            <a:ext cx="7320279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600" b="0">
                <a:solidFill>
                  <a:srgbClr val="1A1D23"/>
                </a:solidFill>
                <a:latin typeface="Aptos"/>
              </a:defRPr>
            </a:pPr>
            <a:r>
              <a:t>8-week pilot curriculum + lab-owner role 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111500"/>
            <a:ext cx="63500" cy="635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480" y="3022600"/>
            <a:ext cx="7320279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600" b="0">
                <a:solidFill>
                  <a:srgbClr val="1A1D23"/>
                </a:solidFill>
                <a:latin typeface="Aptos"/>
              </a:defRPr>
            </a:pPr>
            <a:r>
              <a:t>Employer MOU / demo-day outreach templates for Huntsville partners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897880"/>
            <a:ext cx="7680960" cy="914400"/>
          </a:xfrm>
          <a:prstGeom prst="rect">
            <a:avLst/>
          </a:prstGeom>
          <a:solidFill>
            <a:srgbClr val="ED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897880"/>
            <a:ext cx="7680960" cy="50800"/>
          </a:xfrm>
          <a:prstGeom prst="rect">
            <a:avLst/>
          </a:prstGeom>
          <a:solidFill>
            <a:srgbClr val="C8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1880" y="6101080"/>
            <a:ext cx="7274560" cy="35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0F1B2D"/>
                </a:solidFill>
                <a:latin typeface="Aptos"/>
              </a:defRPr>
            </a:pPr>
            <a:r>
              <a:t>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880" y="6507480"/>
            <a:ext cx="727456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defRPr sz="1150" b="0">
                <a:solidFill>
                  <a:srgbClr val="1A1D23"/>
                </a:solidFill>
                <a:latin typeface="Aptos"/>
              </a:defRPr>
            </a:pPr>
            <a:r>
              <a:t>“If this direction is useful, I can turn this into a tier-specific procurement memo within a week.”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5314"/>
            <a:ext cx="14630400" cy="836022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271016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95000"/>
              </a:lnSpc>
              <a:defRPr sz="4400" b="1">
                <a:solidFill>
                  <a:srgbClr val="FFFFFF"/>
                </a:solidFill>
                <a:latin typeface="Georgia"/>
              </a:defRPr>
            </a:pPr>
            <a:r>
              <a:t>AI is collapsing the distance between idea and implementation.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069080"/>
            <a:ext cx="105156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10000"/>
              </a:lnSpc>
              <a:defRPr sz="2400" b="0">
                <a:solidFill>
                  <a:srgbClr val="F5F3EF"/>
                </a:solidFill>
                <a:latin typeface="Aptos"/>
              </a:defRPr>
            </a:pPr>
            <a:r>
              <a:t>Students who learn this now graduate with a different ceiling.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080760"/>
            <a:ext cx="8686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10000"/>
              </a:lnSpc>
              <a:defRPr sz="1700" b="1">
                <a:solidFill>
                  <a:srgbClr val="C8913A"/>
                </a:solidFill>
                <a:latin typeface="Aptos"/>
              </a:defRPr>
            </a:pPr>
            <a:r>
              <a:t>Oakwood has the position. The lab gives students the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