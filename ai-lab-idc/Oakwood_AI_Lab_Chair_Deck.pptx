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Oakwood University — AI Studio + Engineering Lab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Island Development Crew LLC · Jonathan Isaac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June 2026 · Proposal &amp; Execute-Ready Estimate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Oakwood doesn’t need another computer lab — it needs an </a:t>
            </a:r>
            <a:r>
              <a:rPr b="1"/>
              <a:t>AI production studio</a:t>
            </a:r>
            <a:r>
              <a:rPr/>
              <a:t> where Math &amp; CS students </a:t>
            </a:r>
            <a:r>
              <a:rPr i="1"/>
              <a:t>ship</a:t>
            </a:r>
            <a:r>
              <a:rPr/>
              <a:t> AI.</a:t>
            </a:r>
          </a:p>
          <a:p>
            <a:pPr lvl="0"/>
            <a:r>
              <a:rPr/>
              <a:t>Plus a hands-on </a:t>
            </a:r>
            <a:r>
              <a:rPr b="1"/>
              <a:t>engineering / soldering makerspace</a:t>
            </a:r>
            <a:r>
              <a:rPr/>
              <a:t> and the </a:t>
            </a:r>
            <a:r>
              <a:rPr b="1"/>
              <a:t>power, network &amp; security</a:t>
            </a:r>
            <a:r>
              <a:rPr/>
              <a:t> that protect it.</a:t>
            </a:r>
          </a:p>
          <a:p>
            <a:pPr lvl="0"/>
            <a:r>
              <a:rPr/>
              <a:t>As the only Seventh-day Adventist HBCU: a credible </a:t>
            </a:r>
            <a:r>
              <a:rPr b="1"/>
              <a:t>responsible-AI ethics</a:t>
            </a:r>
            <a:r>
              <a:rPr/>
              <a:t> voice (2084 / Lennox curriculum).</a:t>
            </a:r>
          </a:p>
          <a:p>
            <a:pPr lvl="0"/>
            <a:r>
              <a:rPr/>
              <a:t>Orchestrated end-to-end by </a:t>
            </a:r>
            <a:r>
              <a:rPr b="1"/>
              <a:t>Island Development Crew</a:t>
            </a:r>
            <a:r>
              <a:rPr/>
              <a:t> — one GC, one fee, one dashboard.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Execution — $172,000 all-in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Range $170,625 – $198,498 (top of the $150–175K target band).</a:t>
            </a:r>
          </a:p>
          <a:p>
            <a:pPr lvl="0"/>
            <a:r>
              <a:rPr/>
              <a:t>Title III grant-eligible ≈ </a:t>
            </a:r>
            <a:r>
              <a:rPr b="1"/>
              <a:t>$93.5K</a:t>
            </a:r>
            <a:r>
              <a:rPr/>
              <a:t> · Facility/capital ≈ </a:t>
            </a:r>
            <a:r>
              <a:rPr b="1"/>
              <a:t>$60.1K</a:t>
            </a:r>
            <a:r>
              <a:rPr/>
              <a:t>.</a:t>
            </a:r>
          </a:p>
          <a:p>
            <a:pPr lvl="0"/>
            <a:r>
              <a:rPr/>
              <a:t>Includes equipment, subbed facility work, GC coordination, contingency, and the </a:t>
            </a:r>
            <a:r>
              <a:rPr b="1"/>
              <a:t>10% IDC orchestration fee</a:t>
            </a:r>
            <a:r>
              <a:rPr/>
              <a:t>.</a:t>
            </a:r>
          </a:p>
          <a:p>
            <a:pPr lvl="0"/>
            <a:r>
              <a:rPr b="1"/>
              <a:t>Department-Wide Vision</a:t>
            </a:r>
            <a:r>
              <a:rPr/>
              <a:t> (donor/naming envelope): </a:t>
            </a:r>
            <a:r>
              <a:rPr b="1"/>
              <a:t>$245K–$330K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Existing Conditions (Walkthrough, May 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Rm 409 (AI Studio):</a:t>
            </a:r>
            <a:r>
              <a:rPr/>
              <a:t> one data drop; breakers trip on space heaters; keep dual smartboards + 2 projectors.</a:t>
            </a:r>
          </a:p>
          <a:p>
            <a:pPr lvl="0"/>
            <a:r>
              <a:rPr b="1"/>
              <a:t>Rm 407 (Math/Soldering):</a:t>
            </a:r>
            <a:r>
              <a:rPr/>
              <a:t> empty cabinetry + “L-bend” for the soldering bench &amp; fume extractor.</a:t>
            </a:r>
          </a:p>
          <a:p>
            <a:pPr lvl="0"/>
            <a:r>
              <a:rPr b="1"/>
              <a:t>Rms 305 + 310 (Engineering):</a:t>
            </a:r>
            <a:r>
              <a:rPr/>
              <a:t> reuse existing benches + </a:t>
            </a:r>
            <a:r>
              <a:rPr b="1"/>
              <a:t>NVIDIA-GPU desktops repurposed for AI hosting</a:t>
            </a:r>
            <a:r>
              <a:rPr/>
              <a:t>.</a:t>
            </a:r>
          </a:p>
          <a:p>
            <a:pPr lvl="0"/>
            <a:r>
              <a:rPr b="1"/>
              <a:t>MDF closet:</a:t>
            </a:r>
            <a:r>
              <a:rPr/>
              <a:t> switch + fuse box in one closet (not to code); network drops out ~monthly.</a:t>
            </a:r>
          </a:p>
          <a:p>
            <a:pPr lvl="0"/>
            <a:r>
              <a:rPr/>
              <a:t>Whole complex: no 90° angles, 15 “Frankensteined” AC units, windows need resealing.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Funding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Title III</a:t>
            </a:r>
            <a:r>
              <a:rPr/>
              <a:t> covers SUPPLIES (&lt;$2K/unit) + EQUIPMENT (≥$2K/unit) — June 30 spend pressure.</a:t>
            </a:r>
          </a:p>
          <a:p>
            <a:pPr lvl="0"/>
            <a:r>
              <a:rPr/>
              <a:t>It does </a:t>
            </a:r>
            <a:r>
              <a:rPr b="1"/>
              <a:t>NOT</a:t>
            </a:r>
            <a:r>
              <a:rPr/>
              <a:t> cover facilities: power, structural cabling labor, raised floor, construction, HVAC, bathroom.</a:t>
            </a:r>
          </a:p>
          <a:p>
            <a:pPr lvl="0"/>
            <a:r>
              <a:rPr/>
              <a:t>Quote 2 (power) + cabling-labor/door-install of Quote 3 → </a:t>
            </a:r>
            <a:r>
              <a:rPr b="1"/>
              <a:t>capital / donor / match funds</a:t>
            </a:r>
            <a:r>
              <a:rPr/>
              <a:t>.</a:t>
            </a:r>
          </a:p>
          <a:p>
            <a:pPr lvl="0"/>
            <a:r>
              <a:rPr/>
              <a:t>Selling all three as one grant line gets clawed back at audit.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Quote 1 — AI Studio + Engineering ($88.2K–$98.8K grant)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Compute:</a:t>
            </a:r>
            <a:r>
              <a:rPr/>
              <a:t> 6× Framework Desktop 128GB · 4× Mac Studio M4 Max · DGX Spark · RTX 5090 WS · Jetson · NAS · UPS · 85″ demo wall.</a:t>
            </a:r>
          </a:p>
          <a:p>
            <a:pPr lvl="0"/>
            <a:r>
              <a:rPr b="1"/>
              <a:t>Bambu fleet:</a:t>
            </a:r>
            <a:r>
              <a:rPr/>
              <a:t> H2D large-format + X1E + 3× P1S+AMS + recirculating fume/VOC extraction.</a:t>
            </a:r>
          </a:p>
          <a:p>
            <a:pPr lvl="0"/>
            <a:r>
              <a:rPr b="1"/>
              <a:t>Soldering + CNC:</a:t>
            </a:r>
            <a:r>
              <a:rPr/>
              <a:t> 5–10× Hakko FX-888DX + Carbide Nomad 3.</a:t>
            </a:r>
          </a:p>
          <a:p>
            <a:pPr lvl="0"/>
            <a:r>
              <a:rPr b="1"/>
              <a:t>3 display/project boards</a:t>
            </a:r>
            <a:r>
              <a:rPr/>
              <a:t> outside the labs (auto-fed via UniFi Connect).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Quote 2 — Power / Electrical ($34K–$37K · facility)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100A lab subpanel · 14 dedicated 20A circuits · 30A UPS circuits · raceway · permits.</a:t>
            </a:r>
          </a:p>
          <a:p>
            <a:pPr lvl="0"/>
            <a:r>
              <a:rPr/>
              <a:t>Load: ~7–9kW continuous / ~12kW peak — 100A subpanel is the floor (NEC 125% derating).</a:t>
            </a:r>
          </a:p>
          <a:p>
            <a:pPr lvl="0"/>
            <a:r>
              <a:rPr b="1"/>
              <a:t>Named Huntsville subs:</a:t>
            </a:r>
            <a:r>
              <a:rPr/>
              <a:t> Madison Electric · Pro Electric · Lee Company · Blake Brothers · Urban Electric.</a:t>
            </a:r>
          </a:p>
          <a:p>
            <a:pPr lvl="0"/>
            <a:r>
              <a:rPr/>
              <a:t>NOT Title III — capital/donor. Gating dependency for all compute.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Quote 3 — Network + Cameras +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UniFi core + pfSense:</a:t>
            </a:r>
            <a:r>
              <a:rPr/>
              <a:t> EnterpriseXG-24 · 2× Pro Max 24 PoE · UDM-Pro-Max · Netgate 6100 MAX.</a:t>
            </a:r>
          </a:p>
          <a:p>
            <a:pPr lvl="0"/>
            <a:r>
              <a:rPr b="1"/>
              <a:t>UniFi Protect cameras:</a:t>
            </a:r>
            <a:r>
              <a:rPr/>
              <a:t> UNVR-Pro + 10–12 G5/G6 cams (labs + hallway).</a:t>
            </a:r>
          </a:p>
          <a:p>
            <a:pPr lvl="0"/>
            <a:r>
              <a:rPr b="1"/>
              <a:t>UniFi Access — 4 doors:</a:t>
            </a:r>
            <a:r>
              <a:rPr/>
              <a:t> per-semester rotating credentials (PIN/NFC/mobile), fail-safe locks.</a:t>
            </a:r>
          </a:p>
          <a:p>
            <a:pPr lvl="0"/>
            <a:r>
              <a:rPr b="1"/>
              <a:t>Subs:</a:t>
            </a:r>
            <a:r>
              <a:rPr/>
              <a:t> Travel Tech, Interweave, Heart Technologies (cabling); AAC, Clear Link, LOCKTEC, Tri-State (access).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Execute-Ready Invoice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Grant-eligible equipment &amp; supplies: </a:t>
            </a:r>
            <a:r>
              <a:rPr b="1"/>
              <a:t>$88,242–$98,820</a:t>
            </a:r>
          </a:p>
          <a:p>
            <a:pPr lvl="0"/>
            <a:r>
              <a:rPr/>
              <a:t>Facility (subbed): </a:t>
            </a:r>
            <a:r>
              <a:rPr b="1"/>
              <a:t>$56,400–$63,800</a:t>
            </a:r>
          </a:p>
          <a:p>
            <a:pPr lvl="0"/>
            <a:r>
              <a:rPr/>
              <a:t>Direct cost: </a:t>
            </a:r>
            <a:r>
              <a:rPr b="1"/>
              <a:t>$144,642–$162,620</a:t>
            </a:r>
          </a:p>
          <a:p>
            <a:pPr lvl="0"/>
            <a:r>
              <a:rPr/>
              <a:t>GC markup (3–7% on facility) + contingency (6–8%) + </a:t>
            </a:r>
            <a:r>
              <a:rPr b="1"/>
              <a:t>IDC fee (10%)</a:t>
            </a:r>
          </a:p>
          <a:p>
            <a:pPr lvl="0"/>
            <a:r>
              <a:rPr b="1"/>
              <a:t>ALL-IN: $172,000</a:t>
            </a:r>
            <a:r>
              <a:rPr/>
              <a:t> (range $170,625–$198,498)</a:t>
            </a:r>
          </a:p>
          <a:p>
            <a:pPr lvl="0"/>
            <a:r>
              <a:rPr/>
              <a:t>Payment: 25% mobilization / 50% rough-in / 25% completion · Stripe + DocuSign.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Curriculum — 2084 / John Lennox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Text: </a:t>
            </a:r>
            <a:r>
              <a:rPr i="1"/>
              <a:t>2084 and the AI Revolution</a:t>
            </a:r>
            <a:r>
              <a:rPr/>
              <a:t> (Lennox, 2024) — responsible-AI ethics spine.</a:t>
            </a:r>
          </a:p>
          <a:p>
            <a:pPr lvl="0"/>
            <a:r>
              <a:rPr/>
              <a:t>Two courses: </a:t>
            </a:r>
            <a:r>
              <a:rPr b="1"/>
              <a:t>AI Engineering</a:t>
            </a:r>
            <a:r>
              <a:rPr/>
              <a:t> + </a:t>
            </a:r>
            <a:r>
              <a:rPr b="1"/>
              <a:t>hands-on Machining/CNC</a:t>
            </a:r>
            <a:r>
              <a:rPr/>
              <a:t>, one ethics seminar.</a:t>
            </a:r>
          </a:p>
          <a:p>
            <a:pPr lvl="0"/>
            <a:r>
              <a:rPr b="1"/>
              <a:t>8 portfolio projects</a:t>
            </a:r>
            <a:r>
              <a:rPr/>
              <a:t> shipped over 12 weeks (“students don’t study AI — they ship it”).</a:t>
            </a:r>
          </a:p>
          <a:p>
            <a:pPr lvl="0"/>
            <a:r>
              <a:rPr b="1"/>
              <a:t>All-in $300–$350 / student</a:t>
            </a:r>
            <a:r>
              <a:rPr/>
              <a:t> — digital toolchain (ChatGPT + Claude + Gemini + Grok @ $20 each + OpenRouter $20 + Vercel + Supabase ≈ $200–250) + course materials + the 2084 book; every student ships 8 finished products.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Fundraising, Match &amp;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Grants:</a:t>
            </a:r>
            <a:r>
              <a:rPr/>
              <a:t> NSF ExpandAI / HBCU-EiR / HBCU-UP · Dept of Ed Title III Part B · NVIDIA Academic · AMD University · Google.org/UNCF.</a:t>
            </a:r>
          </a:p>
          <a:p>
            <a:pPr lvl="0"/>
            <a:r>
              <a:rPr b="1"/>
              <a:t>Mission-fit:</a:t>
            </a:r>
            <a:r>
              <a:rPr/>
              <a:t> Templeton · Lilly · Mellon. Corporate matching gifts.</a:t>
            </a:r>
          </a:p>
          <a:p>
            <a:pPr lvl="0"/>
            <a:r>
              <a:rPr b="1"/>
              <a:t>Voices/channels:</a:t>
            </a:r>
            <a:r>
              <a:rPr/>
              <a:t> James Tour · John Lennox · Wesley Huff · Modern Wisdom · Valuetainment · Diary of a CEO.</a:t>
            </a:r>
          </a:p>
          <a:p>
            <a:pPr lvl="0"/>
            <a:r>
              <a:rPr b="1"/>
              <a:t>Naming:</a:t>
            </a:r>
            <a:r>
              <a:rPr/>
              <a:t> “The John Lennox AI Innovation Lab” — funds the grant-ineligible facility scope.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Approve </a:t>
            </a:r>
            <a:r>
              <a:rPr b="1"/>
              <a:t>Recommended Execution (~$172K all-in)</a:t>
            </a:r>
            <a:r>
              <a:rPr/>
              <a:t> + release mobilization deposit.</a:t>
            </a:r>
          </a:p>
          <a:p>
            <a:pPr lvl="0"/>
            <a:r>
              <a:rPr/>
              <a:t>Authorize the </a:t>
            </a:r>
            <a:r>
              <a:rPr b="1"/>
              <a:t>licensed-electrician load study</a:t>
            </a:r>
            <a:r>
              <a:rPr/>
              <a:t> + </a:t>
            </a:r>
            <a:r>
              <a:rPr b="1"/>
              <a:t>3 sealed sub bids per trade</a:t>
            </a:r>
            <a:r>
              <a:rPr/>
              <a:t>.</a:t>
            </a:r>
          </a:p>
          <a:p>
            <a:pPr lvl="0"/>
            <a:r>
              <a:rPr/>
              <a:t>Confirm: room dimensions · campus-IT vendor standard · tax-exempt status · Stripe/DocuSign/Gmail.</a:t>
            </a:r>
          </a:p>
          <a:p>
            <a:pPr lvl="0"/>
            <a:r>
              <a:rPr/>
              <a:t>IDC returns firm signed numbers in ~10 business days; </a:t>
            </a:r>
            <a:r>
              <a:rPr b="1"/>
              <a:t>90-day build</a:t>
            </a:r>
            <a:r>
              <a:rPr/>
              <a:t> begins.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Island Development Crew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Jonathan Isaac · 256-668-8248 · jon-isaac@islanddevcrew.com Live hub: oakwood-ai-hub.vercel.app/ai-lab-final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Oakwood University — AI Studio + Engineering Lab</dc:title>
  <dc:creator>Island Development Crew LLC · Jonathan Isaac</dc:creator>
  <cp:keywords/>
  <dcterms:created xsi:type="dcterms:W3CDTF">2026-06-17T16:37:03Z</dcterms:created>
  <dcterms:modified xsi:type="dcterms:W3CDTF">2026-06-17T16:37:03Z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June 2026 · Proposal &amp; Execute-Ready Estimate</vt:lpwstr>
  </property>
</Properties>
</file>